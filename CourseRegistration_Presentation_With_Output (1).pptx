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a091194-fdd3-7470-4d34-bd8737916e94}">
          <p14:sldIdLst>
            <p14:sldId id="256"/>
            <p14:sldId id="257"/>
            <p14:sldId id="258"/>
            <p14:sldId id="259"/>
          </p14:sldIdLst>
        </p14:section>
        <p14:section name="Course outcomes" id="{e63b0a21-47b0-23a8-d960-8cce736b6a12}">
          <p14:sldIdLst>
            <p14:sldId id="260"/>
            <p14:sldId id="261"/>
            <p14:sldId id="262"/>
            <p14:sldId id="263"/>
            <p14:sldId id="264"/>
          </p14:sldIdLst>
        </p14:section>
        <p14:section name="Wrap up" id="{6c785bcb-c349-16d2-ba21-e5913bd71f1b}">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and the project name. This is our end project for the PSP Java course. It covers all six course outcomes, CO1 to CO6.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real-life problem: manual course selection leads to credit overflow and timetable clashes. Our program checks both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main features quickly. We will show them in the live demo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program is one file. main() shows the menu. Registration has the rules, sorting and searching work on the course list, and files and reports save data and build summaries. Course is the parent class and LabCourse extends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CO1: we wrote the algorithm and flowchart in the README, and used constants, expressions and Scanner. CO2: the main menu is a do-while loop with a switch, and input is validated with if-else and while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recursive method has a base case (end of list) and a recursive case. The timetable is a 2-D array: rows are days, columns are time slots. If the cell is not empty, we throw a clash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is the parent class and LabCourse extends it. LabCourse overrides getHours, that is polymorphism. Registration can fail in two ways, and each has its own exception. We use multi-catch and finally.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Strings: StringBuilder for the timetable text, split to read CSV lines. Algorithms: sorting with Comparable and Comparator. Files: we save courses, load them back, skip bad lines, and handle a missing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 pipeline filters, sorts, maps and prints course names. Optional avoids null checks. The reports method also shows a Map with groupingBy, a TreeSet, and a stream sum over the registered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program live. Load the sample data, register CS101, then try CS103, which clashes. Then show the timetable and the stream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the evaluator exactly where to look for each course outcome. Every concept is also tagged in the source code with a comment like [CO6].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evaluator. Mention the GitHub repository with the README and the commit history.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76072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926080"/>
            <a:ext cx="5760720" cy="64008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457200" y="4754880"/>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Course Registration &amp; Timetable Builder   |   26SC1101E  PSP (Java)</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accent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760720" cy="1554480"/>
          </a:xfrm>
          <a:prstGeom prst="rect">
            <a:avLst/>
          </a:prstGeom>
          <a:noFill/>
          <a:ln/>
        </p:spPr>
        <p:txBody>
          <a:bodyPr wrap="square" lIns="0" tIns="0" rIns="0" bIns="0" rtlCol="0" anchor="b"/>
          <a:lstStyle/>
          <a:p>
            <a:pPr algn="l" indent="0" marL="0">
              <a:buNone/>
            </a:pPr>
            <a:r>
              <a:rPr lang="en-US" sz="4000" b="1" dirty="0">
                <a:solidFill>
                  <a:schemeClr val="bg1"/>
                </a:solidFill>
              </a:rPr>
              <a:t>Course Registration &amp; Timetable Builder</a:t>
            </a:r>
            <a:endParaRPr lang="en-US" sz="4000" dirty="0"/>
          </a:p>
        </p:txBody>
      </p:sp>
      <p:sp>
        <p:nvSpPr>
          <p:cNvPr id="3" name="Text 0"/>
          <p:cNvSpPr/>
          <p:nvPr>
            <p:ph idx="101" type="body" hasCustomPrompt="1"/>
          </p:nvPr>
        </p:nvSpPr>
        <p:spPr>
          <a:xfrm>
            <a:off x="548640" y="2926080"/>
            <a:ext cx="5760720" cy="640080"/>
          </a:xfrm>
          <a:prstGeom prst="rect">
            <a:avLst/>
          </a:prstGeom>
          <a:noFill/>
          <a:ln/>
        </p:spPr>
        <p:txBody>
          <a:bodyPr wrap="square" lIns="0" tIns="0" rIns="0" bIns="0" rtlCol="0" anchor="t"/>
          <a:lstStyle/>
          <a:p>
            <a:pPr algn="l" indent="0" marL="0">
              <a:buNone/>
            </a:pPr>
            <a:r>
              <a:rPr lang="en-US" sz="1800" dirty="0">
                <a:solidFill>
                  <a:schemeClr val="accent5"/>
                </a:solidFill>
              </a:rPr>
              <a:t>26SC1101E  Problem Solving Using Programming (Java)</a:t>
            </a:r>
            <a:endParaRPr lang="en-US" sz="1800" dirty="0"/>
          </a:p>
        </p:txBody>
      </p:sp>
      <p:sp>
        <p:nvSpPr>
          <p:cNvPr id="4" name="authors-1"/>
          <p:cNvSpPr txBox="1"/>
          <p:nvPr/>
        </p:nvSpPr>
        <p:spPr>
          <a:xfrm>
            <a:off x="548640" y="3749040"/>
            <a:ext cx="5760720" cy="914400"/>
          </a:xfrm>
          <a:prstGeom prst="rect">
            <a:avLst/>
          </a:prstGeom>
          <a:noFill/>
          <a:ln/>
        </p:spPr>
        <p:txBody>
          <a:bodyPr wrap="square" lIns="0" tIns="0" rIns="0" bIns="0" rtlCol="0" anchor="t"/>
          <a:lstStyle/>
          <a:p>
            <a:pPr indent="0" marL="0">
              <a:buNone/>
            </a:pPr>
            <a:r>
              <a:rPr lang="en-US" sz="1400" dirty="0">
                <a:solidFill>
                  <a:schemeClr val="accent2"/>
                </a:solidFill>
              </a:rPr>
              <a:t>V. Bhuvan Sai Teja  (2620030671)</a:t>
            </a:r>
            <a:endParaRPr lang="en-US" sz="1400" dirty="0"/>
          </a:p>
          <a:p>
            <a:pPr indent="0" marL="0">
              <a:buNone/>
            </a:pPr>
            <a:r>
              <a:rPr lang="en-US" sz="1400" dirty="0">
                <a:solidFill>
                  <a:schemeClr val="accent2"/>
                </a:solidFill>
              </a:rPr>
              <a:t>Shloka Bomma  (2620030679)</a:t>
            </a:r>
            <a:endParaRPr lang="en-US" sz="1400" dirty="0"/>
          </a:p>
          <a:p>
            <a:pPr indent="0" marL="0">
              <a:buNone/>
            </a:pPr>
            <a:r>
              <a:rPr lang="en-US" sz="1400" dirty="0">
                <a:solidFill>
                  <a:schemeClr val="accent2"/>
                </a:solidFill>
              </a:rPr>
              <a:t>Section 13  |  KL University, B.Tech Freshmen</a:t>
            </a:r>
            <a:endParaRPr lang="en-US" sz="1400" dirty="0"/>
          </a:p>
        </p:txBody>
      </p:sp>
      <p:sp>
        <p:nvSpPr>
          <p:cNvPr id="5" name="hero-circle-2"/>
          <p:cNvSpPr/>
          <p:nvPr/>
        </p:nvSpPr>
        <p:spPr>
          <a:xfrm>
            <a:off x="6675120" y="1463040"/>
            <a:ext cx="1828800" cy="1828800"/>
          </a:xfrm>
          <a:prstGeom prst="ellipse">
            <a:avLst/>
          </a:prstGeom>
          <a:solidFill>
            <a:schemeClr val="accent1"/>
          </a:solidFill>
          <a:ln w="12700">
            <a:solidFill>
              <a:schemeClr val="accent1"/>
            </a:solidFill>
            <a:prstDash val="solid"/>
          </a:ln>
        </p:spPr>
      </p:sp>
      <p:pic>
        <p:nvPicPr>
          <p:cNvPr id="6" name="Image 0" descr="Graduation cap">    </p:cNvPr>
          <p:cNvPicPr>
            <a:picLocks noChangeAspect="1"/>
          </p:cNvPicPr>
          <p:nvPr/>
        </p:nvPicPr>
        <p:blipFill>
          <a:blip r:embed="rId1"/>
          <a:stretch>
            <a:fillRect/>
          </a:stretch>
        </p:blipFill>
        <p:spPr>
          <a:xfrm>
            <a:off x="7086600" y="1874520"/>
            <a:ext cx="100584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The problem and our solution</a:t>
            </a:r>
            <a:endParaRPr lang="en-US" sz="3200" dirty="0"/>
          </a:p>
        </p:txBody>
      </p:sp>
      <p:sp>
        <p:nvSpPr>
          <p:cNvPr id="3" name="card-3"/>
          <p:cNvSpPr/>
          <p:nvPr/>
        </p:nvSpPr>
        <p:spPr>
          <a:xfrm>
            <a:off x="457200" y="1188720"/>
            <a:ext cx="4023360" cy="1691640"/>
          </a:xfrm>
          <a:prstGeom prst="roundRect">
            <a:avLst>
              <a:gd name="adj" fmla="val 4324"/>
            </a:avLst>
          </a:prstGeom>
          <a:solidFill>
            <a:schemeClr val="bg2"/>
          </a:solidFill>
          <a:ln w="12700">
            <a:solidFill>
              <a:schemeClr val="bg2"/>
            </a:solidFill>
            <a:prstDash val="solid"/>
          </a:ln>
        </p:spPr>
      </p:sp>
      <p:sp>
        <p:nvSpPr>
          <p:cNvPr id="4" name="Text 2"/>
          <p:cNvSpPr txBox="1"/>
          <p:nvPr/>
        </p:nvSpPr>
        <p:spPr>
          <a:xfrm>
            <a:off x="640080" y="1280160"/>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The problem</a:t>
            </a:r>
            <a:endParaRPr lang="en-US" sz="1800" dirty="0"/>
          </a:p>
        </p:txBody>
      </p:sp>
      <p:sp>
        <p:nvSpPr>
          <p:cNvPr id="5" name="Text 3"/>
          <p:cNvSpPr txBox="1"/>
          <p:nvPr/>
        </p:nvSpPr>
        <p:spPr>
          <a:xfrm>
            <a:off x="640080" y="1691640"/>
            <a:ext cx="3657600" cy="1097280"/>
          </a:xfrm>
          <a:prstGeom prst="rect">
            <a:avLst/>
          </a:prstGeom>
          <a:noFill/>
          <a:ln/>
        </p:spPr>
        <p:txBody>
          <a:bodyPr wrap="square" lIns="0" tIns="0" rIns="0" bIns="0" rtlCol="0" anchor="t"/>
          <a:lstStyle/>
          <a:p>
            <a:pPr indent="0" marL="0">
              <a:buNone/>
            </a:pPr>
            <a:r>
              <a:rPr lang="en-US" sz="1400" dirty="0">
                <a:solidFill>
                  <a:schemeClr val="tx1"/>
                </a:solidFill>
              </a:rPr>
              <a:t>Students pick courses by hand, can go over the credit limit, and may end up with two classes at the same time.</a:t>
            </a:r>
            <a:endParaRPr lang="en-US" sz="1400" dirty="0"/>
          </a:p>
        </p:txBody>
      </p:sp>
      <p:sp>
        <p:nvSpPr>
          <p:cNvPr id="6" name="card-4"/>
          <p:cNvSpPr/>
          <p:nvPr/>
        </p:nvSpPr>
        <p:spPr>
          <a:xfrm>
            <a:off x="4663440" y="1188720"/>
            <a:ext cx="4023360" cy="1691640"/>
          </a:xfrm>
          <a:prstGeom prst="roundRect">
            <a:avLst>
              <a:gd name="adj" fmla="val 4324"/>
            </a:avLst>
          </a:prstGeom>
          <a:solidFill>
            <a:schemeClr val="bg2"/>
          </a:solidFill>
          <a:ln w="12700">
            <a:solidFill>
              <a:schemeClr val="bg2"/>
            </a:solidFill>
            <a:prstDash val="solid"/>
          </a:ln>
        </p:spPr>
      </p:sp>
      <p:sp>
        <p:nvSpPr>
          <p:cNvPr id="7" name="Text 5"/>
          <p:cNvSpPr txBox="1"/>
          <p:nvPr/>
        </p:nvSpPr>
        <p:spPr>
          <a:xfrm>
            <a:off x="4846320" y="1280160"/>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Our solution</a:t>
            </a:r>
            <a:endParaRPr lang="en-US" sz="1800" dirty="0"/>
          </a:p>
        </p:txBody>
      </p:sp>
      <p:sp>
        <p:nvSpPr>
          <p:cNvPr id="8" name="Text 6"/>
          <p:cNvSpPr txBox="1"/>
          <p:nvPr/>
        </p:nvSpPr>
        <p:spPr>
          <a:xfrm>
            <a:off x="4846320" y="1691640"/>
            <a:ext cx="3657600" cy="1097280"/>
          </a:xfrm>
          <a:prstGeom prst="rect">
            <a:avLst/>
          </a:prstGeom>
          <a:noFill/>
          <a:ln/>
        </p:spPr>
        <p:txBody>
          <a:bodyPr wrap="square" lIns="0" tIns="0" rIns="0" bIns="0" rtlCol="0" anchor="t"/>
          <a:lstStyle/>
          <a:p>
            <a:pPr indent="0" marL="0">
              <a:buNone/>
            </a:pPr>
            <a:r>
              <a:rPr lang="en-US" sz="1400" dirty="0">
                <a:solidFill>
                  <a:schemeClr val="tx1"/>
                </a:solidFill>
              </a:rPr>
              <a:t>A Java console app that registers courses, blocks credit and clash errors, and prints a weekly timetable.</a:t>
            </a:r>
            <a:endParaRPr lang="en-US" sz="1400" dirty="0"/>
          </a:p>
        </p:txBody>
      </p:sp>
      <p:sp>
        <p:nvSpPr>
          <p:cNvPr id="9" name="card-5"/>
          <p:cNvSpPr/>
          <p:nvPr/>
        </p:nvSpPr>
        <p:spPr>
          <a:xfrm>
            <a:off x="457200" y="3108960"/>
            <a:ext cx="2560320" cy="1417320"/>
          </a:xfrm>
          <a:prstGeom prst="roundRect">
            <a:avLst>
              <a:gd name="adj" fmla="val 5161"/>
            </a:avLst>
          </a:prstGeom>
          <a:solidFill>
            <a:schemeClr val="accent1"/>
          </a:solidFill>
          <a:ln w="12700">
            <a:solidFill>
              <a:schemeClr val="accent1"/>
            </a:solidFill>
            <a:prstDash val="solid"/>
          </a:ln>
        </p:spPr>
      </p:sp>
      <p:sp>
        <p:nvSpPr>
          <p:cNvPr id="10" name="Text 8"/>
          <p:cNvSpPr txBox="1"/>
          <p:nvPr/>
        </p:nvSpPr>
        <p:spPr>
          <a:xfrm>
            <a:off x="457200" y="3200400"/>
            <a:ext cx="2560320" cy="777240"/>
          </a:xfrm>
          <a:prstGeom prst="rect">
            <a:avLst/>
          </a:prstGeom>
          <a:noFill/>
          <a:ln/>
        </p:spPr>
        <p:txBody>
          <a:bodyPr wrap="square" lIns="0" tIns="0" rIns="0" bIns="0" rtlCol="0" anchor="ctr"/>
          <a:lstStyle/>
          <a:p>
            <a:pPr algn="ctr" indent="0" marL="0">
              <a:buNone/>
            </a:pPr>
            <a:r>
              <a:rPr lang="en-US" sz="4800" b="1" dirty="0">
                <a:solidFill>
                  <a:schemeClr val="accent2"/>
                </a:solidFill>
              </a:rPr>
              <a:t>1</a:t>
            </a:r>
            <a:endParaRPr lang="en-US" sz="4800" dirty="0"/>
          </a:p>
        </p:txBody>
      </p:sp>
      <p:sp>
        <p:nvSpPr>
          <p:cNvPr id="11" name="Text 9"/>
          <p:cNvSpPr txBox="1"/>
          <p:nvPr/>
        </p:nvSpPr>
        <p:spPr>
          <a:xfrm>
            <a:off x="457200" y="3977640"/>
            <a:ext cx="2560320" cy="411480"/>
          </a:xfrm>
          <a:prstGeom prst="rect">
            <a:avLst/>
          </a:prstGeom>
          <a:noFill/>
          <a:ln/>
        </p:spPr>
        <p:txBody>
          <a:bodyPr wrap="square" lIns="0" tIns="0" rIns="0" bIns="0" rtlCol="0" anchor="ctr"/>
          <a:lstStyle/>
          <a:p>
            <a:pPr algn="ctr" indent="0" marL="0">
              <a:buNone/>
            </a:pPr>
            <a:r>
              <a:rPr lang="en-US" sz="1400" dirty="0">
                <a:solidFill>
                  <a:schemeClr val="bg1"/>
                </a:solidFill>
              </a:rPr>
              <a:t>Java file</a:t>
            </a:r>
            <a:endParaRPr lang="en-US" sz="1400" dirty="0"/>
          </a:p>
        </p:txBody>
      </p:sp>
      <p:sp>
        <p:nvSpPr>
          <p:cNvPr id="12" name="card-6"/>
          <p:cNvSpPr/>
          <p:nvPr/>
        </p:nvSpPr>
        <p:spPr>
          <a:xfrm>
            <a:off x="3291840" y="3108960"/>
            <a:ext cx="2560320" cy="1417320"/>
          </a:xfrm>
          <a:prstGeom prst="roundRect">
            <a:avLst>
              <a:gd name="adj" fmla="val 5161"/>
            </a:avLst>
          </a:prstGeom>
          <a:solidFill>
            <a:schemeClr val="accent1"/>
          </a:solidFill>
          <a:ln w="12700">
            <a:solidFill>
              <a:schemeClr val="accent1"/>
            </a:solidFill>
            <a:prstDash val="solid"/>
          </a:ln>
        </p:spPr>
      </p:sp>
      <p:sp>
        <p:nvSpPr>
          <p:cNvPr id="13" name="Text 11"/>
          <p:cNvSpPr txBox="1"/>
          <p:nvPr/>
        </p:nvSpPr>
        <p:spPr>
          <a:xfrm>
            <a:off x="3291840" y="3200400"/>
            <a:ext cx="2560320" cy="777240"/>
          </a:xfrm>
          <a:prstGeom prst="rect">
            <a:avLst/>
          </a:prstGeom>
          <a:noFill/>
          <a:ln/>
        </p:spPr>
        <p:txBody>
          <a:bodyPr wrap="square" lIns="0" tIns="0" rIns="0" bIns="0" rtlCol="0" anchor="ctr"/>
          <a:lstStyle/>
          <a:p>
            <a:pPr algn="ctr" indent="0" marL="0">
              <a:buNone/>
            </a:pPr>
            <a:r>
              <a:rPr lang="en-US" sz="4800" b="1" dirty="0">
                <a:solidFill>
                  <a:schemeClr val="accent2"/>
                </a:solidFill>
              </a:rPr>
              <a:t>12</a:t>
            </a:r>
            <a:endParaRPr lang="en-US" sz="4800" dirty="0"/>
          </a:p>
        </p:txBody>
      </p:sp>
      <p:sp>
        <p:nvSpPr>
          <p:cNvPr id="14" name="Text 12"/>
          <p:cNvSpPr txBox="1"/>
          <p:nvPr/>
        </p:nvSpPr>
        <p:spPr>
          <a:xfrm>
            <a:off x="3291840" y="3977640"/>
            <a:ext cx="2560320" cy="411480"/>
          </a:xfrm>
          <a:prstGeom prst="rect">
            <a:avLst/>
          </a:prstGeom>
          <a:noFill/>
          <a:ln/>
        </p:spPr>
        <p:txBody>
          <a:bodyPr wrap="square" lIns="0" tIns="0" rIns="0" bIns="0" rtlCol="0" anchor="ctr"/>
          <a:lstStyle/>
          <a:p>
            <a:pPr algn="ctr" indent="0" marL="0">
              <a:buNone/>
            </a:pPr>
            <a:r>
              <a:rPr lang="en-US" sz="1400" dirty="0">
                <a:solidFill>
                  <a:schemeClr val="bg1"/>
                </a:solidFill>
              </a:rPr>
              <a:t>menu options</a:t>
            </a:r>
            <a:endParaRPr lang="en-US" sz="1400" dirty="0"/>
          </a:p>
        </p:txBody>
      </p:sp>
      <p:sp>
        <p:nvSpPr>
          <p:cNvPr id="15" name="card-7"/>
          <p:cNvSpPr/>
          <p:nvPr/>
        </p:nvSpPr>
        <p:spPr>
          <a:xfrm>
            <a:off x="6126480" y="3108960"/>
            <a:ext cx="2560320" cy="1417320"/>
          </a:xfrm>
          <a:prstGeom prst="roundRect">
            <a:avLst>
              <a:gd name="adj" fmla="val 5161"/>
            </a:avLst>
          </a:prstGeom>
          <a:solidFill>
            <a:schemeClr val="accent1"/>
          </a:solidFill>
          <a:ln w="12700">
            <a:solidFill>
              <a:schemeClr val="accent1"/>
            </a:solidFill>
            <a:prstDash val="solid"/>
          </a:ln>
        </p:spPr>
      </p:sp>
      <p:sp>
        <p:nvSpPr>
          <p:cNvPr id="16" name="Text 14"/>
          <p:cNvSpPr txBox="1"/>
          <p:nvPr/>
        </p:nvSpPr>
        <p:spPr>
          <a:xfrm>
            <a:off x="6126480" y="3200400"/>
            <a:ext cx="2560320" cy="777240"/>
          </a:xfrm>
          <a:prstGeom prst="rect">
            <a:avLst/>
          </a:prstGeom>
          <a:noFill/>
          <a:ln/>
        </p:spPr>
        <p:txBody>
          <a:bodyPr wrap="square" lIns="0" tIns="0" rIns="0" bIns="0" rtlCol="0" anchor="ctr"/>
          <a:lstStyle/>
          <a:p>
            <a:pPr algn="ctr" indent="0" marL="0">
              <a:buNone/>
            </a:pPr>
            <a:r>
              <a:rPr lang="en-US" sz="4800" b="1" dirty="0">
                <a:solidFill>
                  <a:schemeClr val="accent2"/>
                </a:solidFill>
              </a:rPr>
              <a:t>6</a:t>
            </a:r>
            <a:endParaRPr lang="en-US" sz="4800" dirty="0"/>
          </a:p>
        </p:txBody>
      </p:sp>
      <p:sp>
        <p:nvSpPr>
          <p:cNvPr id="17" name="Text 15"/>
          <p:cNvSpPr txBox="1"/>
          <p:nvPr/>
        </p:nvSpPr>
        <p:spPr>
          <a:xfrm>
            <a:off x="6126480" y="3977640"/>
            <a:ext cx="2560320" cy="411480"/>
          </a:xfrm>
          <a:prstGeom prst="rect">
            <a:avLst/>
          </a:prstGeom>
          <a:noFill/>
          <a:ln/>
        </p:spPr>
        <p:txBody>
          <a:bodyPr wrap="square" lIns="0" tIns="0" rIns="0" bIns="0" rtlCol="0" anchor="ctr"/>
          <a:lstStyle/>
          <a:p>
            <a:pPr algn="ctr" indent="0" marL="0">
              <a:buNone/>
            </a:pPr>
            <a:r>
              <a:rPr lang="en-US" sz="1400" dirty="0">
                <a:solidFill>
                  <a:schemeClr val="bg1"/>
                </a:solidFill>
              </a:rPr>
              <a:t>course outcomes covered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What the program can do</a:t>
            </a:r>
            <a:endParaRPr lang="en-US" sz="3200" dirty="0"/>
          </a:p>
        </p:txBody>
      </p:sp>
      <p:sp>
        <p:nvSpPr>
          <p:cNvPr id="3" name="card-8"/>
          <p:cNvSpPr/>
          <p:nvPr/>
        </p:nvSpPr>
        <p:spPr>
          <a:xfrm>
            <a:off x="457200" y="1188720"/>
            <a:ext cx="2651760" cy="1554480"/>
          </a:xfrm>
          <a:prstGeom prst="roundRect">
            <a:avLst>
              <a:gd name="adj" fmla="val 4706"/>
            </a:avLst>
          </a:prstGeom>
          <a:solidFill>
            <a:schemeClr val="bg2"/>
          </a:solidFill>
          <a:ln w="12700">
            <a:solidFill>
              <a:schemeClr val="bg2"/>
            </a:solidFill>
            <a:prstDash val="solid"/>
          </a:ln>
        </p:spPr>
      </p:sp>
      <p:sp>
        <p:nvSpPr>
          <p:cNvPr id="4" name="icon-bg-9"/>
          <p:cNvSpPr/>
          <p:nvPr/>
        </p:nvSpPr>
        <p:spPr>
          <a:xfrm>
            <a:off x="640080" y="1371600"/>
            <a:ext cx="548640" cy="548640"/>
          </a:xfrm>
          <a:prstGeom prst="ellipse">
            <a:avLst/>
          </a:prstGeom>
          <a:solidFill>
            <a:schemeClr val="accent1"/>
          </a:solidFill>
          <a:ln w="12700">
            <a:solidFill>
              <a:schemeClr val="accent1"/>
            </a:solidFill>
            <a:prstDash val="solid"/>
          </a:ln>
        </p:spPr>
      </p:sp>
      <p:pic>
        <p:nvPicPr>
          <p:cNvPr id="5" name="Image 0" descr="FaPlusCircle">    </p:cNvPr>
          <p:cNvPicPr>
            <a:picLocks noChangeAspect="1"/>
          </p:cNvPicPr>
          <p:nvPr/>
        </p:nvPicPr>
        <p:blipFill>
          <a:blip r:embed="rId1"/>
          <a:stretch>
            <a:fillRect/>
          </a:stretch>
        </p:blipFill>
        <p:spPr>
          <a:xfrm>
            <a:off x="777240" y="1508760"/>
            <a:ext cx="274320" cy="274320"/>
          </a:xfrm>
          <a:prstGeom prst="rect">
            <a:avLst/>
          </a:prstGeom>
        </p:spPr>
      </p:pic>
      <p:sp>
        <p:nvSpPr>
          <p:cNvPr id="6" name="Text 3"/>
          <p:cNvSpPr txBox="1"/>
          <p:nvPr/>
        </p:nvSpPr>
        <p:spPr>
          <a:xfrm>
            <a:off x="1325880" y="137160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Add courses</a:t>
            </a:r>
            <a:endParaRPr lang="en-US" sz="1600" dirty="0"/>
          </a:p>
        </p:txBody>
      </p:sp>
      <p:sp>
        <p:nvSpPr>
          <p:cNvPr id="7" name="Text 4"/>
          <p:cNvSpPr txBox="1"/>
          <p:nvPr/>
        </p:nvSpPr>
        <p:spPr>
          <a:xfrm>
            <a:off x="640080" y="2011680"/>
            <a:ext cx="2286000" cy="640080"/>
          </a:xfrm>
          <a:prstGeom prst="rect">
            <a:avLst/>
          </a:prstGeom>
          <a:noFill/>
          <a:ln/>
        </p:spPr>
        <p:txBody>
          <a:bodyPr wrap="square" lIns="0" tIns="0" rIns="0" bIns="0" rtlCol="0" anchor="t"/>
          <a:lstStyle/>
          <a:p>
            <a:pPr indent="0" marL="0">
              <a:buNone/>
            </a:pPr>
            <a:r>
              <a:rPr lang="en-US" sz="1400" dirty="0">
                <a:solidFill>
                  <a:schemeClr val="tx1"/>
                </a:solidFill>
              </a:rPr>
              <a:t>Theory and Lab courses with validated input</a:t>
            </a:r>
            <a:endParaRPr lang="en-US" sz="1400" dirty="0"/>
          </a:p>
        </p:txBody>
      </p:sp>
      <p:sp>
        <p:nvSpPr>
          <p:cNvPr id="8" name="card-10"/>
          <p:cNvSpPr/>
          <p:nvPr/>
        </p:nvSpPr>
        <p:spPr>
          <a:xfrm>
            <a:off x="3246120" y="1188720"/>
            <a:ext cx="2651760" cy="1554480"/>
          </a:xfrm>
          <a:prstGeom prst="roundRect">
            <a:avLst>
              <a:gd name="adj" fmla="val 4706"/>
            </a:avLst>
          </a:prstGeom>
          <a:solidFill>
            <a:schemeClr val="bg2"/>
          </a:solidFill>
          <a:ln w="12700">
            <a:solidFill>
              <a:schemeClr val="bg2"/>
            </a:solidFill>
            <a:prstDash val="solid"/>
          </a:ln>
        </p:spPr>
      </p:sp>
      <p:sp>
        <p:nvSpPr>
          <p:cNvPr id="9" name="icon-bg-11"/>
          <p:cNvSpPr/>
          <p:nvPr/>
        </p:nvSpPr>
        <p:spPr>
          <a:xfrm>
            <a:off x="3429000" y="1371600"/>
            <a:ext cx="548640" cy="548640"/>
          </a:xfrm>
          <a:prstGeom prst="ellipse">
            <a:avLst/>
          </a:prstGeom>
          <a:solidFill>
            <a:schemeClr val="accent1"/>
          </a:solidFill>
          <a:ln w="12700">
            <a:solidFill>
              <a:schemeClr val="accent1"/>
            </a:solidFill>
            <a:prstDash val="solid"/>
          </a:ln>
        </p:spPr>
      </p:sp>
      <p:pic>
        <p:nvPicPr>
          <p:cNvPr id="10" name="Image 1" descr="FaClipboardCheck">    </p:cNvPr>
          <p:cNvPicPr>
            <a:picLocks noChangeAspect="1"/>
          </p:cNvPicPr>
          <p:nvPr/>
        </p:nvPicPr>
        <p:blipFill>
          <a:blip r:embed="rId2"/>
          <a:stretch>
            <a:fillRect/>
          </a:stretch>
        </p:blipFill>
        <p:spPr>
          <a:xfrm>
            <a:off x="3566160" y="1508760"/>
            <a:ext cx="274320" cy="274320"/>
          </a:xfrm>
          <a:prstGeom prst="rect">
            <a:avLst/>
          </a:prstGeom>
        </p:spPr>
      </p:pic>
      <p:sp>
        <p:nvSpPr>
          <p:cNvPr id="11" name="Text 7"/>
          <p:cNvSpPr txBox="1"/>
          <p:nvPr/>
        </p:nvSpPr>
        <p:spPr>
          <a:xfrm>
            <a:off x="4114800" y="137160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Register and drop</a:t>
            </a:r>
            <a:endParaRPr lang="en-US" sz="1600" dirty="0"/>
          </a:p>
        </p:txBody>
      </p:sp>
      <p:sp>
        <p:nvSpPr>
          <p:cNvPr id="12" name="Text 8"/>
          <p:cNvSpPr txBox="1"/>
          <p:nvPr/>
        </p:nvSpPr>
        <p:spPr>
          <a:xfrm>
            <a:off x="3429000" y="2011680"/>
            <a:ext cx="2286000" cy="640080"/>
          </a:xfrm>
          <a:prstGeom prst="rect">
            <a:avLst/>
          </a:prstGeom>
          <a:noFill/>
          <a:ln/>
        </p:spPr>
        <p:txBody>
          <a:bodyPr wrap="square" lIns="0" tIns="0" rIns="0" bIns="0" rtlCol="0" anchor="t"/>
          <a:lstStyle/>
          <a:p>
            <a:pPr indent="0" marL="0">
              <a:buNone/>
            </a:pPr>
            <a:r>
              <a:rPr lang="en-US" sz="1400" dirty="0">
                <a:solidFill>
                  <a:schemeClr val="tx1"/>
                </a:solidFill>
              </a:rPr>
              <a:t>Stay within the 24-credit limit</a:t>
            </a:r>
            <a:endParaRPr lang="en-US" sz="1400" dirty="0"/>
          </a:p>
        </p:txBody>
      </p:sp>
      <p:sp>
        <p:nvSpPr>
          <p:cNvPr id="13" name="card-12"/>
          <p:cNvSpPr/>
          <p:nvPr/>
        </p:nvSpPr>
        <p:spPr>
          <a:xfrm>
            <a:off x="6035040" y="1188720"/>
            <a:ext cx="2651760" cy="1554480"/>
          </a:xfrm>
          <a:prstGeom prst="roundRect">
            <a:avLst>
              <a:gd name="adj" fmla="val 4706"/>
            </a:avLst>
          </a:prstGeom>
          <a:solidFill>
            <a:schemeClr val="bg2"/>
          </a:solidFill>
          <a:ln w="12700">
            <a:solidFill>
              <a:schemeClr val="bg2"/>
            </a:solidFill>
            <a:prstDash val="solid"/>
          </a:ln>
        </p:spPr>
      </p:sp>
      <p:sp>
        <p:nvSpPr>
          <p:cNvPr id="14" name="icon-bg-13"/>
          <p:cNvSpPr/>
          <p:nvPr/>
        </p:nvSpPr>
        <p:spPr>
          <a:xfrm>
            <a:off x="6217920" y="1371600"/>
            <a:ext cx="548640" cy="548640"/>
          </a:xfrm>
          <a:prstGeom prst="ellipse">
            <a:avLst/>
          </a:prstGeom>
          <a:solidFill>
            <a:schemeClr val="accent1"/>
          </a:solidFill>
          <a:ln w="12700">
            <a:solidFill>
              <a:schemeClr val="accent1"/>
            </a:solidFill>
            <a:prstDash val="solid"/>
          </a:ln>
        </p:spPr>
      </p:sp>
      <p:pic>
        <p:nvPicPr>
          <p:cNvPr id="15" name="Image 2" descr="FaExclamationTriangle">    </p:cNvPr>
          <p:cNvPicPr>
            <a:picLocks noChangeAspect="1"/>
          </p:cNvPicPr>
          <p:nvPr/>
        </p:nvPicPr>
        <p:blipFill>
          <a:blip r:embed="rId3"/>
          <a:stretch>
            <a:fillRect/>
          </a:stretch>
        </p:blipFill>
        <p:spPr>
          <a:xfrm>
            <a:off x="6355080" y="1508760"/>
            <a:ext cx="274320" cy="274320"/>
          </a:xfrm>
          <a:prstGeom prst="rect">
            <a:avLst/>
          </a:prstGeom>
        </p:spPr>
      </p:pic>
      <p:sp>
        <p:nvSpPr>
          <p:cNvPr id="16" name="Text 11"/>
          <p:cNvSpPr txBox="1"/>
          <p:nvPr/>
        </p:nvSpPr>
        <p:spPr>
          <a:xfrm>
            <a:off x="6903720" y="137160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Clash detection</a:t>
            </a:r>
            <a:endParaRPr lang="en-US" sz="1600" dirty="0"/>
          </a:p>
        </p:txBody>
      </p:sp>
      <p:sp>
        <p:nvSpPr>
          <p:cNvPr id="17" name="Text 12"/>
          <p:cNvSpPr txBox="1"/>
          <p:nvPr/>
        </p:nvSpPr>
        <p:spPr>
          <a:xfrm>
            <a:off x="6217920" y="2011680"/>
            <a:ext cx="2286000" cy="640080"/>
          </a:xfrm>
          <a:prstGeom prst="rect">
            <a:avLst/>
          </a:prstGeom>
          <a:noFill/>
          <a:ln/>
        </p:spPr>
        <p:txBody>
          <a:bodyPr wrap="square" lIns="0" tIns="0" rIns="0" bIns="0" rtlCol="0" anchor="t"/>
          <a:lstStyle/>
          <a:p>
            <a:pPr indent="0" marL="0">
              <a:buNone/>
            </a:pPr>
            <a:r>
              <a:rPr lang="en-US" sz="1400" dirty="0">
                <a:solidFill>
                  <a:schemeClr val="tx1"/>
                </a:solidFill>
              </a:rPr>
              <a:t>No two classes in the same day and slot</a:t>
            </a:r>
            <a:endParaRPr lang="en-US" sz="1400" dirty="0"/>
          </a:p>
        </p:txBody>
      </p:sp>
      <p:sp>
        <p:nvSpPr>
          <p:cNvPr id="18" name="card-14"/>
          <p:cNvSpPr/>
          <p:nvPr/>
        </p:nvSpPr>
        <p:spPr>
          <a:xfrm>
            <a:off x="457200" y="2880360"/>
            <a:ext cx="2651760" cy="1554480"/>
          </a:xfrm>
          <a:prstGeom prst="roundRect">
            <a:avLst>
              <a:gd name="adj" fmla="val 4706"/>
            </a:avLst>
          </a:prstGeom>
          <a:solidFill>
            <a:schemeClr val="bg2"/>
          </a:solidFill>
          <a:ln w="12700">
            <a:solidFill>
              <a:schemeClr val="bg2"/>
            </a:solidFill>
            <a:prstDash val="solid"/>
          </a:ln>
        </p:spPr>
      </p:sp>
      <p:sp>
        <p:nvSpPr>
          <p:cNvPr id="19" name="icon-bg-15"/>
          <p:cNvSpPr/>
          <p:nvPr/>
        </p:nvSpPr>
        <p:spPr>
          <a:xfrm>
            <a:off x="640080" y="3063240"/>
            <a:ext cx="548640" cy="548640"/>
          </a:xfrm>
          <a:prstGeom prst="ellipse">
            <a:avLst/>
          </a:prstGeom>
          <a:solidFill>
            <a:schemeClr val="accent1"/>
          </a:solidFill>
          <a:ln w="12700">
            <a:solidFill>
              <a:schemeClr val="accent1"/>
            </a:solidFill>
            <a:prstDash val="solid"/>
          </a:ln>
        </p:spPr>
      </p:sp>
      <p:pic>
        <p:nvPicPr>
          <p:cNvPr id="20" name="Image 3" descr="FaCalendarAlt">    </p:cNvPr>
          <p:cNvPicPr>
            <a:picLocks noChangeAspect="1"/>
          </p:cNvPicPr>
          <p:nvPr/>
        </p:nvPicPr>
        <p:blipFill>
          <a:blip r:embed="rId4"/>
          <a:stretch>
            <a:fillRect/>
          </a:stretch>
        </p:blipFill>
        <p:spPr>
          <a:xfrm>
            <a:off x="777240" y="3200400"/>
            <a:ext cx="274320" cy="274320"/>
          </a:xfrm>
          <a:prstGeom prst="rect">
            <a:avLst/>
          </a:prstGeom>
        </p:spPr>
      </p:pic>
      <p:sp>
        <p:nvSpPr>
          <p:cNvPr id="21" name="Text 15"/>
          <p:cNvSpPr txBox="1"/>
          <p:nvPr/>
        </p:nvSpPr>
        <p:spPr>
          <a:xfrm>
            <a:off x="1325880" y="306324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Weekly timetable</a:t>
            </a:r>
            <a:endParaRPr lang="en-US" sz="1600" dirty="0"/>
          </a:p>
        </p:txBody>
      </p:sp>
      <p:sp>
        <p:nvSpPr>
          <p:cNvPr id="22" name="Text 16"/>
          <p:cNvSpPr txBox="1"/>
          <p:nvPr/>
        </p:nvSpPr>
        <p:spPr>
          <a:xfrm>
            <a:off x="640080" y="3703320"/>
            <a:ext cx="2286000" cy="640080"/>
          </a:xfrm>
          <a:prstGeom prst="rect">
            <a:avLst/>
          </a:prstGeom>
          <a:noFill/>
          <a:ln/>
        </p:spPr>
        <p:txBody>
          <a:bodyPr wrap="square" lIns="0" tIns="0" rIns="0" bIns="0" rtlCol="0" anchor="t"/>
          <a:lstStyle/>
          <a:p>
            <a:pPr indent="0" marL="0">
              <a:buNone/>
            </a:pPr>
            <a:r>
              <a:rPr lang="en-US" sz="1400" dirty="0">
                <a:solidFill>
                  <a:schemeClr val="tx1"/>
                </a:solidFill>
              </a:rPr>
              <a:t>5 days x 5 slots grid printed in the console</a:t>
            </a:r>
            <a:endParaRPr lang="en-US" sz="1400" dirty="0"/>
          </a:p>
        </p:txBody>
      </p:sp>
      <p:sp>
        <p:nvSpPr>
          <p:cNvPr id="23" name="card-16"/>
          <p:cNvSpPr/>
          <p:nvPr/>
        </p:nvSpPr>
        <p:spPr>
          <a:xfrm>
            <a:off x="3246120" y="2880360"/>
            <a:ext cx="2651760" cy="1554480"/>
          </a:xfrm>
          <a:prstGeom prst="roundRect">
            <a:avLst>
              <a:gd name="adj" fmla="val 4706"/>
            </a:avLst>
          </a:prstGeom>
          <a:solidFill>
            <a:schemeClr val="bg2"/>
          </a:solidFill>
          <a:ln w="12700">
            <a:solidFill>
              <a:schemeClr val="bg2"/>
            </a:solidFill>
            <a:prstDash val="solid"/>
          </a:ln>
        </p:spPr>
      </p:sp>
      <p:sp>
        <p:nvSpPr>
          <p:cNvPr id="24" name="icon-bg-17"/>
          <p:cNvSpPr/>
          <p:nvPr/>
        </p:nvSpPr>
        <p:spPr>
          <a:xfrm>
            <a:off x="3429000" y="3063240"/>
            <a:ext cx="548640" cy="548640"/>
          </a:xfrm>
          <a:prstGeom prst="ellipse">
            <a:avLst/>
          </a:prstGeom>
          <a:solidFill>
            <a:schemeClr val="accent1"/>
          </a:solidFill>
          <a:ln w="12700">
            <a:solidFill>
              <a:schemeClr val="accent1"/>
            </a:solidFill>
            <a:prstDash val="solid"/>
          </a:ln>
        </p:spPr>
      </p:sp>
      <p:pic>
        <p:nvPicPr>
          <p:cNvPr id="25" name="Image 4" descr="FaSearch">    </p:cNvPr>
          <p:cNvPicPr>
            <a:picLocks noChangeAspect="1"/>
          </p:cNvPicPr>
          <p:nvPr/>
        </p:nvPicPr>
        <p:blipFill>
          <a:blip r:embed="rId5"/>
          <a:stretch>
            <a:fillRect/>
          </a:stretch>
        </p:blipFill>
        <p:spPr>
          <a:xfrm>
            <a:off x="3566160" y="3200400"/>
            <a:ext cx="274320" cy="274320"/>
          </a:xfrm>
          <a:prstGeom prst="rect">
            <a:avLst/>
          </a:prstGeom>
        </p:spPr>
      </p:pic>
      <p:sp>
        <p:nvSpPr>
          <p:cNvPr id="26" name="Text 19"/>
          <p:cNvSpPr txBox="1"/>
          <p:nvPr/>
        </p:nvSpPr>
        <p:spPr>
          <a:xfrm>
            <a:off x="4114800" y="306324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Search and sort</a:t>
            </a:r>
            <a:endParaRPr lang="en-US" sz="1600" dirty="0"/>
          </a:p>
        </p:txBody>
      </p:sp>
      <p:sp>
        <p:nvSpPr>
          <p:cNvPr id="27" name="Text 20"/>
          <p:cNvSpPr txBox="1"/>
          <p:nvPr/>
        </p:nvSpPr>
        <p:spPr>
          <a:xfrm>
            <a:off x="3429000" y="3703320"/>
            <a:ext cx="2286000" cy="640080"/>
          </a:xfrm>
          <a:prstGeom prst="rect">
            <a:avLst/>
          </a:prstGeom>
          <a:noFill/>
          <a:ln/>
        </p:spPr>
        <p:txBody>
          <a:bodyPr wrap="square" lIns="0" tIns="0" rIns="0" bIns="0" rtlCol="0" anchor="t"/>
          <a:lstStyle/>
          <a:p>
            <a:pPr indent="0" marL="0">
              <a:buNone/>
            </a:pPr>
            <a:r>
              <a:rPr lang="en-US" sz="1400" dirty="0">
                <a:solidFill>
                  <a:schemeClr val="tx1"/>
                </a:solidFill>
              </a:rPr>
              <a:t>Sort by ID, name or credits; search by name</a:t>
            </a:r>
            <a:endParaRPr lang="en-US" sz="1400" dirty="0"/>
          </a:p>
        </p:txBody>
      </p:sp>
      <p:sp>
        <p:nvSpPr>
          <p:cNvPr id="28" name="card-18"/>
          <p:cNvSpPr/>
          <p:nvPr/>
        </p:nvSpPr>
        <p:spPr>
          <a:xfrm>
            <a:off x="6035040" y="2880360"/>
            <a:ext cx="2651760" cy="1554480"/>
          </a:xfrm>
          <a:prstGeom prst="roundRect">
            <a:avLst>
              <a:gd name="adj" fmla="val 4706"/>
            </a:avLst>
          </a:prstGeom>
          <a:solidFill>
            <a:schemeClr val="bg2"/>
          </a:solidFill>
          <a:ln w="12700">
            <a:solidFill>
              <a:schemeClr val="bg2"/>
            </a:solidFill>
            <a:prstDash val="solid"/>
          </a:ln>
        </p:spPr>
      </p:sp>
      <p:sp>
        <p:nvSpPr>
          <p:cNvPr id="29" name="icon-bg-19"/>
          <p:cNvSpPr/>
          <p:nvPr/>
        </p:nvSpPr>
        <p:spPr>
          <a:xfrm>
            <a:off x="6217920" y="3063240"/>
            <a:ext cx="548640" cy="548640"/>
          </a:xfrm>
          <a:prstGeom prst="ellipse">
            <a:avLst/>
          </a:prstGeom>
          <a:solidFill>
            <a:schemeClr val="accent1"/>
          </a:solidFill>
          <a:ln w="12700">
            <a:solidFill>
              <a:schemeClr val="accent1"/>
            </a:solidFill>
            <a:prstDash val="solid"/>
          </a:ln>
        </p:spPr>
      </p:sp>
      <p:pic>
        <p:nvPicPr>
          <p:cNvPr id="30" name="Image 5" descr="FaFileAlt">    </p:cNvPr>
          <p:cNvPicPr>
            <a:picLocks noChangeAspect="1"/>
          </p:cNvPicPr>
          <p:nvPr/>
        </p:nvPicPr>
        <p:blipFill>
          <a:blip r:embed="rId6"/>
          <a:stretch>
            <a:fillRect/>
          </a:stretch>
        </p:blipFill>
        <p:spPr>
          <a:xfrm>
            <a:off x="6355080" y="3200400"/>
            <a:ext cx="274320" cy="274320"/>
          </a:xfrm>
          <a:prstGeom prst="rect">
            <a:avLst/>
          </a:prstGeom>
        </p:spPr>
      </p:pic>
      <p:sp>
        <p:nvSpPr>
          <p:cNvPr id="31" name="Text 23"/>
          <p:cNvSpPr txBox="1"/>
          <p:nvPr/>
        </p:nvSpPr>
        <p:spPr>
          <a:xfrm>
            <a:off x="6903720" y="3063240"/>
            <a:ext cx="1691640" cy="548640"/>
          </a:xfrm>
          <a:prstGeom prst="rect">
            <a:avLst/>
          </a:prstGeom>
          <a:noFill/>
          <a:ln/>
        </p:spPr>
        <p:txBody>
          <a:bodyPr wrap="square" lIns="0" tIns="0" rIns="0" bIns="0" rtlCol="0" anchor="ctr"/>
          <a:lstStyle/>
          <a:p>
            <a:pPr indent="0" marL="0">
              <a:buNone/>
            </a:pPr>
            <a:r>
              <a:rPr lang="en-US" sz="1600" b="1" dirty="0">
                <a:solidFill>
                  <a:schemeClr val="tx2"/>
                </a:solidFill>
              </a:rPr>
              <a:t>Files and reports</a:t>
            </a:r>
            <a:endParaRPr lang="en-US" sz="1600" dirty="0"/>
          </a:p>
        </p:txBody>
      </p:sp>
      <p:sp>
        <p:nvSpPr>
          <p:cNvPr id="32" name="Text 24"/>
          <p:cNvSpPr txBox="1"/>
          <p:nvPr/>
        </p:nvSpPr>
        <p:spPr>
          <a:xfrm>
            <a:off x="6217920" y="3703320"/>
            <a:ext cx="2286000" cy="640080"/>
          </a:xfrm>
          <a:prstGeom prst="rect">
            <a:avLst/>
          </a:prstGeom>
          <a:noFill/>
          <a:ln/>
        </p:spPr>
        <p:txBody>
          <a:bodyPr wrap="square" lIns="0" tIns="0" rIns="0" bIns="0" rtlCol="0" anchor="t"/>
          <a:lstStyle/>
          <a:p>
            <a:pPr indent="0" marL="0">
              <a:buNone/>
            </a:pPr>
            <a:r>
              <a:rPr lang="en-US" sz="1400" dirty="0">
                <a:solidFill>
                  <a:schemeClr val="tx1"/>
                </a:solidFill>
              </a:rPr>
              <a:t>Save, load and stream-based reports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How the code is organised</a:t>
            </a:r>
            <a:endParaRPr lang="en-US" sz="3200" dirty="0"/>
          </a:p>
        </p:txBody>
      </p:sp>
      <p:sp>
        <p:nvSpPr>
          <p:cNvPr id="3" name="box-20"/>
          <p:cNvSpPr/>
          <p:nvPr/>
        </p:nvSpPr>
        <p:spPr>
          <a:xfrm>
            <a:off x="2148840" y="1188720"/>
            <a:ext cx="2194560" cy="457200"/>
          </a:xfrm>
          <a:prstGeom prst="roundRect">
            <a:avLst>
              <a:gd name="adj" fmla="val 16000"/>
            </a:avLst>
          </a:prstGeom>
          <a:solidFill>
            <a:schemeClr val="accent1"/>
          </a:solidFill>
          <a:ln w="12700">
            <a:solidFill>
              <a:schemeClr val="accent1"/>
            </a:solidFill>
            <a:prstDash val="solid"/>
          </a:ln>
        </p:spPr>
      </p:sp>
      <p:sp>
        <p:nvSpPr>
          <p:cNvPr id="4" name="Text 2"/>
          <p:cNvSpPr txBox="1"/>
          <p:nvPr/>
        </p:nvSpPr>
        <p:spPr>
          <a:xfrm>
            <a:off x="2148840" y="1188720"/>
            <a:ext cx="2194560" cy="457200"/>
          </a:xfrm>
          <a:prstGeom prst="rect">
            <a:avLst/>
          </a:prstGeom>
          <a:noFill/>
          <a:ln/>
        </p:spPr>
        <p:txBody>
          <a:bodyPr wrap="square" lIns="0" tIns="0" rIns="0" bIns="0" rtlCol="0" anchor="ctr"/>
          <a:lstStyle/>
          <a:p>
            <a:pPr algn="ctr" indent="0" marL="0">
              <a:buNone/>
            </a:pPr>
            <a:r>
              <a:rPr lang="en-US" sz="1400" b="1" dirty="0">
                <a:solidFill>
                  <a:schemeClr val="bg1"/>
                </a:solidFill>
              </a:rPr>
              <a:t>main()  menu loop</a:t>
            </a:r>
            <a:endParaRPr lang="en-US" sz="1400" dirty="0"/>
          </a:p>
        </p:txBody>
      </p:sp>
      <p:sp>
        <p:nvSpPr>
          <p:cNvPr id="5" name="bus-21"/>
          <p:cNvSpPr/>
          <p:nvPr/>
        </p:nvSpPr>
        <p:spPr>
          <a:xfrm>
            <a:off x="1325880" y="1783080"/>
            <a:ext cx="3840480" cy="0"/>
          </a:xfrm>
          <a:prstGeom prst="line">
            <a:avLst/>
          </a:prstGeom>
          <a:noFill/>
          <a:ln w="19050">
            <a:solidFill>
              <a:schemeClr val="accent4"/>
            </a:solidFill>
            <a:prstDash val="solid"/>
          </a:ln>
        </p:spPr>
      </p:sp>
      <p:sp>
        <p:nvSpPr>
          <p:cNvPr id="6" name="stem-22"/>
          <p:cNvSpPr/>
          <p:nvPr/>
        </p:nvSpPr>
        <p:spPr>
          <a:xfrm>
            <a:off x="3246120" y="1645920"/>
            <a:ext cx="0" cy="137160"/>
          </a:xfrm>
          <a:prstGeom prst="line">
            <a:avLst/>
          </a:prstGeom>
          <a:noFill/>
          <a:ln w="19050">
            <a:solidFill>
              <a:schemeClr val="accent4"/>
            </a:solidFill>
            <a:prstDash val="solid"/>
          </a:ln>
        </p:spPr>
      </p:sp>
      <p:sp>
        <p:nvSpPr>
          <p:cNvPr id="7" name="arrow-23"/>
          <p:cNvSpPr/>
          <p:nvPr/>
        </p:nvSpPr>
        <p:spPr>
          <a:xfrm>
            <a:off x="1325880" y="1783080"/>
            <a:ext cx="0" cy="274320"/>
          </a:xfrm>
          <a:prstGeom prst="line">
            <a:avLst/>
          </a:prstGeom>
          <a:noFill/>
          <a:ln w="19050">
            <a:solidFill>
              <a:schemeClr val="accent4"/>
            </a:solidFill>
            <a:prstDash val="solid"/>
            <a:tailEnd type="triangle"/>
          </a:ln>
        </p:spPr>
      </p:sp>
      <p:sp>
        <p:nvSpPr>
          <p:cNvPr id="8" name="arrow-24"/>
          <p:cNvSpPr/>
          <p:nvPr/>
        </p:nvSpPr>
        <p:spPr>
          <a:xfrm>
            <a:off x="3246120" y="1783080"/>
            <a:ext cx="0" cy="274320"/>
          </a:xfrm>
          <a:prstGeom prst="line">
            <a:avLst/>
          </a:prstGeom>
          <a:noFill/>
          <a:ln w="19050">
            <a:solidFill>
              <a:schemeClr val="accent4"/>
            </a:solidFill>
            <a:prstDash val="solid"/>
            <a:tailEnd type="triangle"/>
          </a:ln>
        </p:spPr>
      </p:sp>
      <p:sp>
        <p:nvSpPr>
          <p:cNvPr id="9" name="arrow-25"/>
          <p:cNvSpPr/>
          <p:nvPr/>
        </p:nvSpPr>
        <p:spPr>
          <a:xfrm>
            <a:off x="5166360" y="1783080"/>
            <a:ext cx="0" cy="274320"/>
          </a:xfrm>
          <a:prstGeom prst="line">
            <a:avLst/>
          </a:prstGeom>
          <a:noFill/>
          <a:ln w="19050">
            <a:solidFill>
              <a:schemeClr val="accent4"/>
            </a:solidFill>
            <a:prstDash val="solid"/>
            <a:tailEnd type="triangle"/>
          </a:ln>
        </p:spPr>
      </p:sp>
      <p:sp>
        <p:nvSpPr>
          <p:cNvPr id="10" name="box-26"/>
          <p:cNvSpPr/>
          <p:nvPr/>
        </p:nvSpPr>
        <p:spPr>
          <a:xfrm>
            <a:off x="457200" y="2057400"/>
            <a:ext cx="1737360" cy="502920"/>
          </a:xfrm>
          <a:prstGeom prst="roundRect">
            <a:avLst>
              <a:gd name="adj" fmla="val 14545"/>
            </a:avLst>
          </a:prstGeom>
          <a:solidFill>
            <a:schemeClr val="accent3"/>
          </a:solidFill>
          <a:ln w="12700">
            <a:solidFill>
              <a:schemeClr val="accent3"/>
            </a:solidFill>
            <a:prstDash val="solid"/>
          </a:ln>
        </p:spPr>
      </p:sp>
      <p:sp>
        <p:nvSpPr>
          <p:cNvPr id="11" name="Text 9"/>
          <p:cNvSpPr txBox="1"/>
          <p:nvPr/>
        </p:nvSpPr>
        <p:spPr>
          <a:xfrm>
            <a:off x="457200" y="2057400"/>
            <a:ext cx="1737360" cy="502920"/>
          </a:xfrm>
          <a:prstGeom prst="rect">
            <a:avLst/>
          </a:prstGeom>
          <a:noFill/>
          <a:ln/>
        </p:spPr>
        <p:txBody>
          <a:bodyPr wrap="square" lIns="0" tIns="0" rIns="0" bIns="0" rtlCol="0" anchor="ctr"/>
          <a:lstStyle/>
          <a:p>
            <a:pPr algn="ctr" indent="0" marL="0">
              <a:buNone/>
            </a:pPr>
            <a:r>
              <a:rPr lang="en-US" sz="1400" b="1" dirty="0">
                <a:solidFill>
                  <a:schemeClr val="bg1"/>
                </a:solidFill>
              </a:rPr>
              <a:t>Registration</a:t>
            </a:r>
            <a:endParaRPr lang="en-US" sz="1400" dirty="0"/>
          </a:p>
        </p:txBody>
      </p:sp>
      <p:sp>
        <p:nvSpPr>
          <p:cNvPr id="12" name="box-27"/>
          <p:cNvSpPr/>
          <p:nvPr/>
        </p:nvSpPr>
        <p:spPr>
          <a:xfrm>
            <a:off x="2377440" y="2057400"/>
            <a:ext cx="1737360" cy="502920"/>
          </a:xfrm>
          <a:prstGeom prst="roundRect">
            <a:avLst>
              <a:gd name="adj" fmla="val 14545"/>
            </a:avLst>
          </a:prstGeom>
          <a:solidFill>
            <a:schemeClr val="accent3"/>
          </a:solidFill>
          <a:ln w="12700">
            <a:solidFill>
              <a:schemeClr val="accent3"/>
            </a:solidFill>
            <a:prstDash val="solid"/>
          </a:ln>
        </p:spPr>
      </p:sp>
      <p:sp>
        <p:nvSpPr>
          <p:cNvPr id="13" name="Text 11"/>
          <p:cNvSpPr txBox="1"/>
          <p:nvPr/>
        </p:nvSpPr>
        <p:spPr>
          <a:xfrm>
            <a:off x="2377440" y="2057400"/>
            <a:ext cx="1737360" cy="502920"/>
          </a:xfrm>
          <a:prstGeom prst="rect">
            <a:avLst/>
          </a:prstGeom>
          <a:noFill/>
          <a:ln/>
        </p:spPr>
        <p:txBody>
          <a:bodyPr wrap="square" lIns="0" tIns="0" rIns="0" bIns="0" rtlCol="0" anchor="ctr"/>
          <a:lstStyle/>
          <a:p>
            <a:pPr algn="ctr" indent="0" marL="0">
              <a:buNone/>
            </a:pPr>
            <a:r>
              <a:rPr lang="en-US" sz="1400" b="1" dirty="0">
                <a:solidFill>
                  <a:schemeClr val="bg1"/>
                </a:solidFill>
              </a:rPr>
              <a:t>Sort and search</a:t>
            </a:r>
            <a:endParaRPr lang="en-US" sz="1400" dirty="0"/>
          </a:p>
        </p:txBody>
      </p:sp>
      <p:sp>
        <p:nvSpPr>
          <p:cNvPr id="14" name="box-28"/>
          <p:cNvSpPr/>
          <p:nvPr/>
        </p:nvSpPr>
        <p:spPr>
          <a:xfrm>
            <a:off x="4297680" y="2057400"/>
            <a:ext cx="1737360" cy="502920"/>
          </a:xfrm>
          <a:prstGeom prst="roundRect">
            <a:avLst>
              <a:gd name="adj" fmla="val 14545"/>
            </a:avLst>
          </a:prstGeom>
          <a:solidFill>
            <a:schemeClr val="accent3"/>
          </a:solidFill>
          <a:ln w="12700">
            <a:solidFill>
              <a:schemeClr val="accent3"/>
            </a:solidFill>
            <a:prstDash val="solid"/>
          </a:ln>
        </p:spPr>
      </p:sp>
      <p:sp>
        <p:nvSpPr>
          <p:cNvPr id="15" name="Text 13"/>
          <p:cNvSpPr txBox="1"/>
          <p:nvPr/>
        </p:nvSpPr>
        <p:spPr>
          <a:xfrm>
            <a:off x="4297680" y="2057400"/>
            <a:ext cx="1737360" cy="502920"/>
          </a:xfrm>
          <a:prstGeom prst="rect">
            <a:avLst/>
          </a:prstGeom>
          <a:noFill/>
          <a:ln/>
        </p:spPr>
        <p:txBody>
          <a:bodyPr wrap="square" lIns="0" tIns="0" rIns="0" bIns="0" rtlCol="0" anchor="ctr"/>
          <a:lstStyle/>
          <a:p>
            <a:pPr algn="ctr" indent="0" marL="0">
              <a:buNone/>
            </a:pPr>
            <a:r>
              <a:rPr lang="en-US" sz="1400" b="1" dirty="0">
                <a:solidFill>
                  <a:schemeClr val="bg1"/>
                </a:solidFill>
              </a:rPr>
              <a:t>Files and reports</a:t>
            </a:r>
            <a:endParaRPr lang="en-US" sz="1400" dirty="0"/>
          </a:p>
        </p:txBody>
      </p:sp>
      <p:sp>
        <p:nvSpPr>
          <p:cNvPr id="16" name="arrow-29"/>
          <p:cNvSpPr/>
          <p:nvPr/>
        </p:nvSpPr>
        <p:spPr>
          <a:xfrm>
            <a:off x="1325880" y="2560320"/>
            <a:ext cx="0" cy="411480"/>
          </a:xfrm>
          <a:prstGeom prst="line">
            <a:avLst/>
          </a:prstGeom>
          <a:noFill/>
          <a:ln w="19050">
            <a:solidFill>
              <a:schemeClr val="accent4"/>
            </a:solidFill>
            <a:prstDash val="solid"/>
            <a:tailEnd type="triangle"/>
          </a:ln>
        </p:spPr>
      </p:sp>
      <p:sp>
        <p:nvSpPr>
          <p:cNvPr id="17" name="arrow-30"/>
          <p:cNvSpPr/>
          <p:nvPr/>
        </p:nvSpPr>
        <p:spPr>
          <a:xfrm>
            <a:off x="3246120" y="2560320"/>
            <a:ext cx="0" cy="411480"/>
          </a:xfrm>
          <a:prstGeom prst="line">
            <a:avLst/>
          </a:prstGeom>
          <a:noFill/>
          <a:ln w="19050">
            <a:solidFill>
              <a:schemeClr val="accent4"/>
            </a:solidFill>
            <a:prstDash val="solid"/>
            <a:tailEnd type="triangle"/>
          </a:ln>
        </p:spPr>
      </p:sp>
      <p:sp>
        <p:nvSpPr>
          <p:cNvPr id="18" name="arrow-31"/>
          <p:cNvSpPr/>
          <p:nvPr/>
        </p:nvSpPr>
        <p:spPr>
          <a:xfrm>
            <a:off x="5166360" y="2560320"/>
            <a:ext cx="0" cy="411480"/>
          </a:xfrm>
          <a:prstGeom prst="line">
            <a:avLst/>
          </a:prstGeom>
          <a:noFill/>
          <a:ln w="19050">
            <a:solidFill>
              <a:schemeClr val="accent4"/>
            </a:solidFill>
            <a:prstDash val="solid"/>
            <a:tailEnd type="triangle"/>
          </a:ln>
        </p:spPr>
      </p:sp>
      <p:sp>
        <p:nvSpPr>
          <p:cNvPr id="19" name="box-32"/>
          <p:cNvSpPr/>
          <p:nvPr/>
        </p:nvSpPr>
        <p:spPr>
          <a:xfrm>
            <a:off x="457200" y="2971800"/>
            <a:ext cx="5577840" cy="502920"/>
          </a:xfrm>
          <a:prstGeom prst="roundRect">
            <a:avLst>
              <a:gd name="adj" fmla="val 14545"/>
            </a:avLst>
          </a:prstGeom>
          <a:solidFill>
            <a:schemeClr val="accent2"/>
          </a:solidFill>
          <a:ln w="12700">
            <a:solidFill>
              <a:schemeClr val="accent2"/>
            </a:solidFill>
            <a:prstDash val="solid"/>
          </a:ln>
        </p:spPr>
      </p:sp>
      <p:sp>
        <p:nvSpPr>
          <p:cNvPr id="20" name="Text 18"/>
          <p:cNvSpPr txBox="1"/>
          <p:nvPr/>
        </p:nvSpPr>
        <p:spPr>
          <a:xfrm>
            <a:off x="457200" y="2971800"/>
            <a:ext cx="5577840" cy="502920"/>
          </a:xfrm>
          <a:prstGeom prst="rect">
            <a:avLst/>
          </a:prstGeom>
          <a:noFill/>
          <a:ln/>
        </p:spPr>
        <p:txBody>
          <a:bodyPr wrap="square" lIns="0" tIns="0" rIns="0" bIns="0" rtlCol="0" anchor="ctr"/>
          <a:lstStyle/>
          <a:p>
            <a:pPr algn="ctr" indent="0" marL="0">
              <a:buNone/>
            </a:pPr>
            <a:r>
              <a:rPr lang="en-US" sz="1400" b="1" dirty="0">
                <a:solidFill>
                  <a:schemeClr val="tx1"/>
                </a:solidFill>
              </a:rPr>
              <a:t>Course  (parent class, Comparable)</a:t>
            </a:r>
            <a:endParaRPr lang="en-US" sz="1400" dirty="0"/>
          </a:p>
        </p:txBody>
      </p:sp>
      <p:sp>
        <p:nvSpPr>
          <p:cNvPr id="21" name="arrow-33"/>
          <p:cNvSpPr/>
          <p:nvPr/>
        </p:nvSpPr>
        <p:spPr>
          <a:xfrm>
            <a:off x="3246120" y="3474720"/>
            <a:ext cx="0" cy="365760"/>
          </a:xfrm>
          <a:prstGeom prst="line">
            <a:avLst/>
          </a:prstGeom>
          <a:noFill/>
          <a:ln w="19050">
            <a:solidFill>
              <a:schemeClr val="accent4"/>
            </a:solidFill>
            <a:prstDash val="solid"/>
            <a:headEnd type="triangle"/>
          </a:ln>
        </p:spPr>
      </p:sp>
      <p:sp>
        <p:nvSpPr>
          <p:cNvPr id="22" name="Text 20"/>
          <p:cNvSpPr txBox="1"/>
          <p:nvPr/>
        </p:nvSpPr>
        <p:spPr>
          <a:xfrm>
            <a:off x="3383280" y="3547872"/>
            <a:ext cx="822960" cy="228600"/>
          </a:xfrm>
          <a:prstGeom prst="rect">
            <a:avLst/>
          </a:prstGeom>
          <a:noFill/>
          <a:ln/>
        </p:spPr>
        <p:txBody>
          <a:bodyPr wrap="square" lIns="0" tIns="0" rIns="0" bIns="0" rtlCol="0" anchor="ctr"/>
          <a:lstStyle/>
          <a:p>
            <a:pPr indent="0" marL="0">
              <a:buNone/>
            </a:pPr>
            <a:r>
              <a:rPr lang="en-US" sz="1000" dirty="0">
                <a:solidFill>
                  <a:schemeClr val="accent4"/>
                </a:solidFill>
              </a:rPr>
              <a:t>extends</a:t>
            </a:r>
            <a:endParaRPr lang="en-US" sz="1000" dirty="0"/>
          </a:p>
        </p:txBody>
      </p:sp>
      <p:sp>
        <p:nvSpPr>
          <p:cNvPr id="23" name="box-34"/>
          <p:cNvSpPr/>
          <p:nvPr/>
        </p:nvSpPr>
        <p:spPr>
          <a:xfrm>
            <a:off x="1920240" y="3840480"/>
            <a:ext cx="2651760" cy="502920"/>
          </a:xfrm>
          <a:prstGeom prst="roundRect">
            <a:avLst>
              <a:gd name="adj" fmla="val 14545"/>
            </a:avLst>
          </a:prstGeom>
          <a:solidFill>
            <a:schemeClr val="accent1"/>
          </a:solidFill>
          <a:ln w="12700">
            <a:solidFill>
              <a:schemeClr val="accent1"/>
            </a:solidFill>
            <a:prstDash val="solid"/>
          </a:ln>
        </p:spPr>
      </p:sp>
      <p:sp>
        <p:nvSpPr>
          <p:cNvPr id="24" name="Text 22"/>
          <p:cNvSpPr txBox="1"/>
          <p:nvPr/>
        </p:nvSpPr>
        <p:spPr>
          <a:xfrm>
            <a:off x="1920240" y="3840480"/>
            <a:ext cx="2651760" cy="502920"/>
          </a:xfrm>
          <a:prstGeom prst="rect">
            <a:avLst/>
          </a:prstGeom>
          <a:noFill/>
          <a:ln/>
        </p:spPr>
        <p:txBody>
          <a:bodyPr wrap="square" lIns="0" tIns="0" rIns="0" bIns="0" rtlCol="0" anchor="ctr"/>
          <a:lstStyle/>
          <a:p>
            <a:pPr algn="ctr" indent="0" marL="0">
              <a:buNone/>
            </a:pPr>
            <a:r>
              <a:rPr lang="en-US" sz="1400" b="1" dirty="0">
                <a:solidFill>
                  <a:schemeClr val="bg1"/>
                </a:solidFill>
              </a:rPr>
              <a:t>LabCourse</a:t>
            </a:r>
            <a:endParaRPr lang="en-US" sz="1400" dirty="0"/>
          </a:p>
        </p:txBody>
      </p:sp>
      <p:sp>
        <p:nvSpPr>
          <p:cNvPr id="25" name="card-35"/>
          <p:cNvSpPr/>
          <p:nvPr/>
        </p:nvSpPr>
        <p:spPr>
          <a:xfrm>
            <a:off x="6217920" y="1188720"/>
            <a:ext cx="2468880" cy="3154680"/>
          </a:xfrm>
          <a:prstGeom prst="roundRect">
            <a:avLst>
              <a:gd name="adj" fmla="val 2963"/>
            </a:avLst>
          </a:prstGeom>
          <a:solidFill>
            <a:schemeClr val="bg2"/>
          </a:solidFill>
          <a:ln w="12700">
            <a:solidFill>
              <a:schemeClr val="bg2"/>
            </a:solidFill>
            <a:prstDash val="solid"/>
          </a:ln>
        </p:spPr>
      </p:sp>
      <p:sp>
        <p:nvSpPr>
          <p:cNvPr id="26" name="Text 24"/>
          <p:cNvSpPr txBox="1"/>
          <p:nvPr/>
        </p:nvSpPr>
        <p:spPr>
          <a:xfrm>
            <a:off x="6400800" y="1280160"/>
            <a:ext cx="2194560" cy="365760"/>
          </a:xfrm>
          <a:prstGeom prst="rect">
            <a:avLst/>
          </a:prstGeom>
          <a:noFill/>
          <a:ln/>
        </p:spPr>
        <p:txBody>
          <a:bodyPr wrap="square" lIns="0" tIns="0" rIns="0" bIns="0" rtlCol="0" anchor="ctr"/>
          <a:lstStyle/>
          <a:p>
            <a:pPr indent="0" marL="0">
              <a:buNone/>
            </a:pPr>
            <a:r>
              <a:rPr lang="en-US" sz="1600" b="1" dirty="0">
                <a:solidFill>
                  <a:schemeClr val="tx2"/>
                </a:solidFill>
              </a:rPr>
              <a:t>Custom exceptions</a:t>
            </a:r>
            <a:endParaRPr lang="en-US" sz="1600" dirty="0"/>
          </a:p>
        </p:txBody>
      </p:sp>
      <p:sp>
        <p:nvSpPr>
          <p:cNvPr id="27" name="Text 25"/>
          <p:cNvSpPr txBox="1"/>
          <p:nvPr/>
        </p:nvSpPr>
        <p:spPr>
          <a:xfrm>
            <a:off x="6355080" y="1737360"/>
            <a:ext cx="228600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ClashException</a:t>
            </a:r>
            <a:endParaRPr lang="en-US" sz="1400" dirty="0"/>
          </a:p>
          <a:p>
            <a:pPr marL="342900" indent="-342900">
              <a:spcAft>
                <a:spcPts val="600"/>
              </a:spcAft>
              <a:buSzPct val="100000"/>
              <a:buChar char="•"/>
            </a:pPr>
            <a:r>
              <a:rPr lang="en-US" sz="1400" dirty="0">
                <a:solidFill>
                  <a:schemeClr val="tx1"/>
                </a:solidFill>
              </a:rPr>
              <a:t>CreditLimitException</a:t>
            </a:r>
            <a:endParaRPr lang="en-US" sz="1400" dirty="0"/>
          </a:p>
          <a:p>
            <a:pPr marL="342900" indent="-342900">
              <a:spcAft>
                <a:spcPts val="600"/>
              </a:spcAft>
              <a:buSzPct val="100000"/>
              <a:buChar char="•"/>
            </a:pPr>
            <a:r>
              <a:rPr lang="en-US" sz="1400" dirty="0">
                <a:solidFill>
                  <a:schemeClr val="tx1"/>
                </a:solidFill>
              </a:rPr>
              <a:t>IllegalArgumentException (built in)</a:t>
            </a:r>
            <a:endParaRPr lang="en-US" sz="1400" dirty="0"/>
          </a:p>
        </p:txBody>
      </p:sp>
      <p:sp>
        <p:nvSpPr>
          <p:cNvPr id="28" name="Text 26"/>
          <p:cNvSpPr txBox="1"/>
          <p:nvPr/>
        </p:nvSpPr>
        <p:spPr>
          <a:xfrm>
            <a:off x="6400800" y="3383280"/>
            <a:ext cx="2194560" cy="822960"/>
          </a:xfrm>
          <a:prstGeom prst="rect">
            <a:avLst/>
          </a:prstGeom>
          <a:noFill/>
          <a:ln/>
        </p:spPr>
        <p:txBody>
          <a:bodyPr wrap="square" lIns="0" tIns="0" rIns="0" bIns="0" rtlCol="0" anchor="t"/>
          <a:lstStyle/>
          <a:p>
            <a:pPr indent="0" marL="0">
              <a:buNone/>
            </a:pPr>
            <a:r>
              <a:rPr lang="en-US" sz="1200" dirty="0">
                <a:solidFill>
                  <a:schemeClr val="accent4"/>
                </a:solidFill>
              </a:rPr>
              <a:t>The two custom ones are checked exceptions that extend Exception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CO1 and CO2: algorithm and control flow</a:t>
            </a:r>
            <a:endParaRPr lang="en-US" sz="3200" dirty="0"/>
          </a:p>
        </p:txBody>
      </p:sp>
      <p:sp>
        <p:nvSpPr>
          <p:cNvPr id="3" name="step-36"/>
          <p:cNvSpPr/>
          <p:nvPr/>
        </p:nvSpPr>
        <p:spPr>
          <a:xfrm>
            <a:off x="457200" y="1188720"/>
            <a:ext cx="1719072" cy="685800"/>
          </a:xfrm>
          <a:prstGeom prst="chevron">
            <a:avLst/>
          </a:prstGeom>
          <a:solidFill>
            <a:schemeClr val="accent1"/>
          </a:solidFill>
          <a:ln w="12700">
            <a:solidFill>
              <a:schemeClr val="bg1"/>
            </a:solidFill>
            <a:prstDash val="solid"/>
          </a:ln>
        </p:spPr>
      </p:sp>
      <p:sp>
        <p:nvSpPr>
          <p:cNvPr id="4" name="Text 2"/>
          <p:cNvSpPr txBox="1"/>
          <p:nvPr/>
        </p:nvSpPr>
        <p:spPr>
          <a:xfrm>
            <a:off x="731520" y="1188720"/>
            <a:ext cx="1188720" cy="685800"/>
          </a:xfrm>
          <a:prstGeom prst="rect">
            <a:avLst/>
          </a:prstGeom>
          <a:noFill/>
          <a:ln/>
        </p:spPr>
        <p:txBody>
          <a:bodyPr wrap="square" lIns="0" tIns="0" rIns="0" bIns="0" rtlCol="0" anchor="ctr"/>
          <a:lstStyle/>
          <a:p>
            <a:pPr algn="ctr" indent="0" marL="0">
              <a:buNone/>
            </a:pPr>
            <a:r>
              <a:rPr lang="en-US" sz="1200" b="1" dirty="0">
                <a:solidFill>
                  <a:schemeClr val="bg1"/>
                </a:solidFill>
              </a:rPr>
              <a:t>1  Read input</a:t>
            </a:r>
            <a:endParaRPr lang="en-US" sz="1200" dirty="0"/>
          </a:p>
        </p:txBody>
      </p:sp>
      <p:sp>
        <p:nvSpPr>
          <p:cNvPr id="5" name="step-37"/>
          <p:cNvSpPr/>
          <p:nvPr/>
        </p:nvSpPr>
        <p:spPr>
          <a:xfrm>
            <a:off x="2075688" y="1188720"/>
            <a:ext cx="1719072" cy="685800"/>
          </a:xfrm>
          <a:prstGeom prst="chevron">
            <a:avLst/>
          </a:prstGeom>
          <a:solidFill>
            <a:schemeClr val="accent1"/>
          </a:solidFill>
          <a:ln w="12700">
            <a:solidFill>
              <a:schemeClr val="bg1"/>
            </a:solidFill>
            <a:prstDash val="solid"/>
          </a:ln>
        </p:spPr>
      </p:sp>
      <p:sp>
        <p:nvSpPr>
          <p:cNvPr id="6" name="Text 4"/>
          <p:cNvSpPr txBox="1"/>
          <p:nvPr/>
        </p:nvSpPr>
        <p:spPr>
          <a:xfrm>
            <a:off x="2350008" y="1188720"/>
            <a:ext cx="1188720" cy="685800"/>
          </a:xfrm>
          <a:prstGeom prst="rect">
            <a:avLst/>
          </a:prstGeom>
          <a:noFill/>
          <a:ln/>
        </p:spPr>
        <p:txBody>
          <a:bodyPr wrap="square" lIns="0" tIns="0" rIns="0" bIns="0" rtlCol="0" anchor="ctr"/>
          <a:lstStyle/>
          <a:p>
            <a:pPr algn="ctr" indent="0" marL="0">
              <a:buNone/>
            </a:pPr>
            <a:r>
              <a:rPr lang="en-US" sz="1200" b="1" dirty="0">
                <a:solidFill>
                  <a:schemeClr val="bg1"/>
                </a:solidFill>
              </a:rPr>
              <a:t>2  Validate</a:t>
            </a:r>
            <a:endParaRPr lang="en-US" sz="1200" dirty="0"/>
          </a:p>
        </p:txBody>
      </p:sp>
      <p:sp>
        <p:nvSpPr>
          <p:cNvPr id="7" name="step-38"/>
          <p:cNvSpPr/>
          <p:nvPr/>
        </p:nvSpPr>
        <p:spPr>
          <a:xfrm>
            <a:off x="3694176" y="1188720"/>
            <a:ext cx="1719072" cy="685800"/>
          </a:xfrm>
          <a:prstGeom prst="chevron">
            <a:avLst/>
          </a:prstGeom>
          <a:solidFill>
            <a:schemeClr val="accent1"/>
          </a:solidFill>
          <a:ln w="12700">
            <a:solidFill>
              <a:schemeClr val="bg1"/>
            </a:solidFill>
            <a:prstDash val="solid"/>
          </a:ln>
        </p:spPr>
      </p:sp>
      <p:sp>
        <p:nvSpPr>
          <p:cNvPr id="8" name="Text 6"/>
          <p:cNvSpPr txBox="1"/>
          <p:nvPr/>
        </p:nvSpPr>
        <p:spPr>
          <a:xfrm>
            <a:off x="3968496" y="1188720"/>
            <a:ext cx="1188720" cy="685800"/>
          </a:xfrm>
          <a:prstGeom prst="rect">
            <a:avLst/>
          </a:prstGeom>
          <a:noFill/>
          <a:ln/>
        </p:spPr>
        <p:txBody>
          <a:bodyPr wrap="square" lIns="0" tIns="0" rIns="0" bIns="0" rtlCol="0" anchor="ctr"/>
          <a:lstStyle/>
          <a:p>
            <a:pPr algn="ctr" indent="0" marL="0">
              <a:buNone/>
            </a:pPr>
            <a:r>
              <a:rPr lang="en-US" sz="1200" b="1" dirty="0">
                <a:solidFill>
                  <a:schemeClr val="bg1"/>
                </a:solidFill>
              </a:rPr>
              <a:t>3  Menu loop</a:t>
            </a:r>
            <a:endParaRPr lang="en-US" sz="1200" dirty="0"/>
          </a:p>
        </p:txBody>
      </p:sp>
      <p:sp>
        <p:nvSpPr>
          <p:cNvPr id="9" name="step-39"/>
          <p:cNvSpPr/>
          <p:nvPr/>
        </p:nvSpPr>
        <p:spPr>
          <a:xfrm>
            <a:off x="5312664" y="1188720"/>
            <a:ext cx="1719072" cy="685800"/>
          </a:xfrm>
          <a:prstGeom prst="chevron">
            <a:avLst/>
          </a:prstGeom>
          <a:solidFill>
            <a:schemeClr val="accent1"/>
          </a:solidFill>
          <a:ln w="12700">
            <a:solidFill>
              <a:schemeClr val="bg1"/>
            </a:solidFill>
            <a:prstDash val="solid"/>
          </a:ln>
        </p:spPr>
      </p:sp>
      <p:sp>
        <p:nvSpPr>
          <p:cNvPr id="10" name="Text 8"/>
          <p:cNvSpPr txBox="1"/>
          <p:nvPr/>
        </p:nvSpPr>
        <p:spPr>
          <a:xfrm>
            <a:off x="5586984" y="1188720"/>
            <a:ext cx="1188720" cy="685800"/>
          </a:xfrm>
          <a:prstGeom prst="rect">
            <a:avLst/>
          </a:prstGeom>
          <a:noFill/>
          <a:ln/>
        </p:spPr>
        <p:txBody>
          <a:bodyPr wrap="square" lIns="0" tIns="0" rIns="0" bIns="0" rtlCol="0" anchor="ctr"/>
          <a:lstStyle/>
          <a:p>
            <a:pPr algn="ctr" indent="0" marL="0">
              <a:buNone/>
            </a:pPr>
            <a:r>
              <a:rPr lang="en-US" sz="1200" b="1" dirty="0">
                <a:solidFill>
                  <a:schemeClr val="bg1"/>
                </a:solidFill>
              </a:rPr>
              <a:t>4  switch</a:t>
            </a:r>
            <a:endParaRPr lang="en-US" sz="1200" dirty="0"/>
          </a:p>
        </p:txBody>
      </p:sp>
      <p:sp>
        <p:nvSpPr>
          <p:cNvPr id="11" name="step-40"/>
          <p:cNvSpPr/>
          <p:nvPr/>
        </p:nvSpPr>
        <p:spPr>
          <a:xfrm>
            <a:off x="6931152" y="1188720"/>
            <a:ext cx="1719072" cy="685800"/>
          </a:xfrm>
          <a:prstGeom prst="chevron">
            <a:avLst/>
          </a:prstGeom>
          <a:solidFill>
            <a:schemeClr val="accent2"/>
          </a:solidFill>
          <a:ln w="12700">
            <a:solidFill>
              <a:schemeClr val="bg1"/>
            </a:solidFill>
            <a:prstDash val="solid"/>
          </a:ln>
        </p:spPr>
      </p:sp>
      <p:sp>
        <p:nvSpPr>
          <p:cNvPr id="12" name="Text 10"/>
          <p:cNvSpPr txBox="1"/>
          <p:nvPr/>
        </p:nvSpPr>
        <p:spPr>
          <a:xfrm>
            <a:off x="7205472" y="1188720"/>
            <a:ext cx="1188720" cy="685800"/>
          </a:xfrm>
          <a:prstGeom prst="rect">
            <a:avLst/>
          </a:prstGeom>
          <a:noFill/>
          <a:ln/>
        </p:spPr>
        <p:txBody>
          <a:bodyPr wrap="square" lIns="0" tIns="0" rIns="0" bIns="0" rtlCol="0" anchor="ctr"/>
          <a:lstStyle/>
          <a:p>
            <a:pPr algn="ctr" indent="0" marL="0">
              <a:buNone/>
            </a:pPr>
            <a:r>
              <a:rPr lang="en-US" sz="1200" b="1" dirty="0">
                <a:solidFill>
                  <a:schemeClr val="tx1"/>
                </a:solidFill>
              </a:rPr>
              <a:t>5  Show result</a:t>
            </a:r>
            <a:endParaRPr lang="en-US" sz="1200" dirty="0"/>
          </a:p>
        </p:txBody>
      </p:sp>
      <p:sp>
        <p:nvSpPr>
          <p:cNvPr id="13" name="card-41"/>
          <p:cNvSpPr/>
          <p:nvPr/>
        </p:nvSpPr>
        <p:spPr>
          <a:xfrm>
            <a:off x="457200" y="2148840"/>
            <a:ext cx="4023360" cy="2011680"/>
          </a:xfrm>
          <a:prstGeom prst="roundRect">
            <a:avLst>
              <a:gd name="adj" fmla="val 3636"/>
            </a:avLst>
          </a:prstGeom>
          <a:solidFill>
            <a:schemeClr val="bg2"/>
          </a:solidFill>
          <a:ln w="12700">
            <a:solidFill>
              <a:schemeClr val="bg2"/>
            </a:solidFill>
            <a:prstDash val="solid"/>
          </a:ln>
        </p:spPr>
      </p:sp>
      <p:sp>
        <p:nvSpPr>
          <p:cNvPr id="14" name="Text 12"/>
          <p:cNvSpPr txBox="1"/>
          <p:nvPr/>
        </p:nvSpPr>
        <p:spPr>
          <a:xfrm>
            <a:off x="640080" y="2240280"/>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CO1  From problem to program</a:t>
            </a:r>
            <a:endParaRPr lang="en-US" sz="1800" dirty="0"/>
          </a:p>
        </p:txBody>
      </p:sp>
      <p:sp>
        <p:nvSpPr>
          <p:cNvPr id="15" name="Text 13"/>
          <p:cNvSpPr txBox="1"/>
          <p:nvPr/>
        </p:nvSpPr>
        <p:spPr>
          <a:xfrm>
            <a:off x="640080" y="2697480"/>
            <a:ext cx="36576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Algorithm and flowchart in the README</a:t>
            </a:r>
            <a:endParaRPr lang="en-US" sz="1400" dirty="0"/>
          </a:p>
          <a:p>
            <a:pPr marL="342900" indent="-342900">
              <a:spcAft>
                <a:spcPts val="600"/>
              </a:spcAft>
              <a:buSzPct val="100000"/>
              <a:buChar char="•"/>
            </a:pPr>
            <a:r>
              <a:rPr lang="en-US" sz="1400" dirty="0">
                <a:solidFill>
                  <a:schemeClr val="tx1"/>
                </a:solidFill>
              </a:rPr>
              <a:t>Constants, variables and expressions</a:t>
            </a:r>
            <a:endParaRPr lang="en-US" sz="1400" dirty="0"/>
          </a:p>
          <a:p>
            <a:pPr marL="342900" indent="-342900">
              <a:spcAft>
                <a:spcPts val="600"/>
              </a:spcAft>
              <a:buSzPct val="100000"/>
              <a:buChar char="•"/>
            </a:pPr>
            <a:r>
              <a:rPr lang="en-US" sz="1400" dirty="0">
                <a:solidFill>
                  <a:schemeClr val="tx1"/>
                </a:solidFill>
              </a:rPr>
              <a:t>Scanner input, formatted output</a:t>
            </a:r>
            <a:endParaRPr lang="en-US" sz="1400" dirty="0"/>
          </a:p>
          <a:p>
            <a:pPr marL="342900" indent="-342900">
              <a:spcAft>
                <a:spcPts val="600"/>
              </a:spcAft>
              <a:buSzPct val="100000"/>
              <a:buChar char="•"/>
            </a:pPr>
            <a:r>
              <a:rPr lang="en-US" sz="1400" dirty="0">
                <a:solidFill>
                  <a:schemeClr val="tx1"/>
                </a:solidFill>
              </a:rPr>
              <a:t>Credits shown as total / 24</a:t>
            </a:r>
            <a:endParaRPr lang="en-US" sz="1400" dirty="0"/>
          </a:p>
        </p:txBody>
      </p:sp>
      <p:sp>
        <p:nvSpPr>
          <p:cNvPr id="16" name="card-42"/>
          <p:cNvSpPr/>
          <p:nvPr/>
        </p:nvSpPr>
        <p:spPr>
          <a:xfrm>
            <a:off x="4663440" y="2148840"/>
            <a:ext cx="4023360" cy="2011680"/>
          </a:xfrm>
          <a:prstGeom prst="roundRect">
            <a:avLst>
              <a:gd name="adj" fmla="val 3636"/>
            </a:avLst>
          </a:prstGeom>
          <a:solidFill>
            <a:schemeClr val="bg2"/>
          </a:solidFill>
          <a:ln w="12700">
            <a:solidFill>
              <a:schemeClr val="bg2"/>
            </a:solidFill>
            <a:prstDash val="solid"/>
          </a:ln>
        </p:spPr>
      </p:sp>
      <p:sp>
        <p:nvSpPr>
          <p:cNvPr id="17" name="Text 15"/>
          <p:cNvSpPr txBox="1"/>
          <p:nvPr/>
        </p:nvSpPr>
        <p:spPr>
          <a:xfrm>
            <a:off x="4846320" y="2240280"/>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CO2  Control flow</a:t>
            </a:r>
            <a:endParaRPr lang="en-US" sz="1800" dirty="0"/>
          </a:p>
        </p:txBody>
      </p:sp>
      <p:sp>
        <p:nvSpPr>
          <p:cNvPr id="18" name="Text 16"/>
          <p:cNvSpPr txBox="1"/>
          <p:nvPr/>
        </p:nvSpPr>
        <p:spPr>
          <a:xfrm>
            <a:off x="4846320" y="2697480"/>
            <a:ext cx="36576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do-while menu runs until Exit</a:t>
            </a:r>
            <a:endParaRPr lang="en-US" sz="1400" dirty="0"/>
          </a:p>
          <a:p>
            <a:pPr marL="342900" indent="-342900">
              <a:spcAft>
                <a:spcPts val="600"/>
              </a:spcAft>
              <a:buSzPct val="100000"/>
              <a:buChar char="•"/>
            </a:pPr>
            <a:r>
              <a:rPr lang="en-US" sz="1400" dirty="0">
                <a:solidFill>
                  <a:schemeClr val="tx1"/>
                </a:solidFill>
              </a:rPr>
              <a:t>switch on the menu choice</a:t>
            </a:r>
            <a:endParaRPr lang="en-US" sz="1400" dirty="0"/>
          </a:p>
          <a:p>
            <a:pPr marL="342900" indent="-342900">
              <a:spcAft>
                <a:spcPts val="600"/>
              </a:spcAft>
              <a:buSzPct val="100000"/>
              <a:buChar char="•"/>
            </a:pPr>
            <a:r>
              <a:rPr lang="en-US" sz="1400" dirty="0">
                <a:solidFill>
                  <a:schemeClr val="tx1"/>
                </a:solidFill>
              </a:rPr>
              <a:t>if / else-if validation checks</a:t>
            </a:r>
            <a:endParaRPr lang="en-US" sz="1400" dirty="0"/>
          </a:p>
          <a:p>
            <a:pPr marL="342900" indent="-342900">
              <a:spcAft>
                <a:spcPts val="600"/>
              </a:spcAft>
              <a:buSzPct val="100000"/>
              <a:buChar char="•"/>
            </a:pPr>
            <a:r>
              <a:rPr lang="en-US" sz="1400" dirty="0">
                <a:solidFill>
                  <a:schemeClr val="tx1"/>
                </a:solidFill>
              </a:rPr>
              <a:t>while loops retry bad input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CO3: methods, recursion and arrays</a:t>
            </a:r>
            <a:endParaRPr lang="en-US" sz="3200" dirty="0"/>
          </a:p>
        </p:txBody>
      </p:sp>
      <p:sp>
        <p:nvSpPr>
          <p:cNvPr id="3" name="code-bg-43"/>
          <p:cNvSpPr/>
          <p:nvPr/>
        </p:nvSpPr>
        <p:spPr>
          <a:xfrm>
            <a:off x="457200" y="1188720"/>
            <a:ext cx="4846320" cy="1600200"/>
          </a:xfrm>
          <a:prstGeom prst="roundRect">
            <a:avLst>
              <a:gd name="adj" fmla="val 4571"/>
            </a:avLst>
          </a:prstGeom>
          <a:solidFill>
            <a:schemeClr val="accent6"/>
          </a:solidFill>
          <a:ln w="12700">
            <a:solidFill>
              <a:schemeClr val="accent6"/>
            </a:solidFill>
            <a:prstDash val="solid"/>
          </a:ln>
        </p:spPr>
      </p:sp>
      <p:sp>
        <p:nvSpPr>
          <p:cNvPr id="4" name="code-44"/>
          <p:cNvSpPr txBox="1"/>
          <p:nvPr/>
        </p:nvSpPr>
        <p:spPr>
          <a:xfrm>
            <a:off x="594360" y="1280160"/>
            <a:ext cx="4572000" cy="141732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static int totalCredits(int i)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if (i == registered.size())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0;                   // base case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registered.get(i).getCredits()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totalCredits(i + 1);   // recursive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5" name="card-45"/>
          <p:cNvSpPr/>
          <p:nvPr/>
        </p:nvSpPr>
        <p:spPr>
          <a:xfrm>
            <a:off x="457200" y="2971800"/>
            <a:ext cx="4846320" cy="1554480"/>
          </a:xfrm>
          <a:prstGeom prst="roundRect">
            <a:avLst>
              <a:gd name="adj" fmla="val 4706"/>
            </a:avLst>
          </a:prstGeom>
          <a:solidFill>
            <a:schemeClr val="bg2"/>
          </a:solidFill>
          <a:ln w="12700">
            <a:solidFill>
              <a:schemeClr val="bg2"/>
            </a:solidFill>
            <a:prstDash val="solid"/>
          </a:ln>
        </p:spPr>
      </p:sp>
      <p:sp>
        <p:nvSpPr>
          <p:cNvPr id="6" name="Text 4"/>
          <p:cNvSpPr txBox="1"/>
          <p:nvPr/>
        </p:nvSpPr>
        <p:spPr>
          <a:xfrm>
            <a:off x="640080" y="3108960"/>
            <a:ext cx="448056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Recursion adds up the registered credits</a:t>
            </a:r>
            <a:endParaRPr lang="en-US" sz="1400" dirty="0"/>
          </a:p>
          <a:p>
            <a:pPr marL="342900" indent="-342900">
              <a:spcAft>
                <a:spcPts val="600"/>
              </a:spcAft>
              <a:buSzPct val="100000"/>
              <a:buChar char="•"/>
            </a:pPr>
            <a:r>
              <a:rPr lang="en-US" sz="1400" dirty="0">
                <a:solidFill>
                  <a:schemeClr val="tx1"/>
                </a:solidFill>
              </a:rPr>
              <a:t>1-D arrays: DAYS and TIMES</a:t>
            </a:r>
            <a:endParaRPr lang="en-US" sz="1400" dirty="0"/>
          </a:p>
          <a:p>
            <a:pPr marL="342900" indent="-342900">
              <a:spcAft>
                <a:spcPts val="600"/>
              </a:spcAft>
              <a:buSzPct val="100000"/>
              <a:buChar char="•"/>
            </a:pPr>
            <a:r>
              <a:rPr lang="en-US" sz="1400" dirty="0">
                <a:solidFill>
                  <a:schemeClr val="tx1"/>
                </a:solidFill>
              </a:rPr>
              <a:t>Methods take parameters and return values</a:t>
            </a:r>
            <a:endParaRPr lang="en-US" sz="1400" dirty="0"/>
          </a:p>
        </p:txBody>
      </p:sp>
      <p:sp>
        <p:nvSpPr>
          <p:cNvPr id="7" name="Text 5"/>
          <p:cNvSpPr txBox="1"/>
          <p:nvPr/>
        </p:nvSpPr>
        <p:spPr>
          <a:xfrm>
            <a:off x="6080760" y="1188720"/>
            <a:ext cx="521208" cy="365760"/>
          </a:xfrm>
          <a:prstGeom prst="rect">
            <a:avLst/>
          </a:prstGeom>
          <a:noFill/>
          <a:ln/>
        </p:spPr>
        <p:txBody>
          <a:bodyPr wrap="square" lIns="0" tIns="0" rIns="0" bIns="0" rtlCol="0" anchor="ctr"/>
          <a:lstStyle/>
          <a:p>
            <a:pPr algn="ctr" indent="0" marL="0">
              <a:buNone/>
            </a:pPr>
            <a:r>
              <a:rPr lang="en-US" sz="1200" b="1" dirty="0">
                <a:solidFill>
                  <a:schemeClr val="tx2"/>
                </a:solidFill>
              </a:rPr>
              <a:t>Mon</a:t>
            </a:r>
            <a:endParaRPr lang="en-US" sz="1200" dirty="0"/>
          </a:p>
        </p:txBody>
      </p:sp>
      <p:sp>
        <p:nvSpPr>
          <p:cNvPr id="8" name="Text 6"/>
          <p:cNvSpPr txBox="1"/>
          <p:nvPr/>
        </p:nvSpPr>
        <p:spPr>
          <a:xfrm>
            <a:off x="6601968" y="1188720"/>
            <a:ext cx="521208" cy="365760"/>
          </a:xfrm>
          <a:prstGeom prst="rect">
            <a:avLst/>
          </a:prstGeom>
          <a:noFill/>
          <a:ln/>
        </p:spPr>
        <p:txBody>
          <a:bodyPr wrap="square" lIns="0" tIns="0" rIns="0" bIns="0" rtlCol="0" anchor="ctr"/>
          <a:lstStyle/>
          <a:p>
            <a:pPr algn="ctr" indent="0" marL="0">
              <a:buNone/>
            </a:pPr>
            <a:r>
              <a:rPr lang="en-US" sz="1200" b="1" dirty="0">
                <a:solidFill>
                  <a:schemeClr val="tx2"/>
                </a:solidFill>
              </a:rPr>
              <a:t>Tue</a:t>
            </a:r>
            <a:endParaRPr lang="en-US" sz="1200" dirty="0"/>
          </a:p>
        </p:txBody>
      </p:sp>
      <p:sp>
        <p:nvSpPr>
          <p:cNvPr id="9" name="Text 7"/>
          <p:cNvSpPr txBox="1"/>
          <p:nvPr/>
        </p:nvSpPr>
        <p:spPr>
          <a:xfrm>
            <a:off x="7123176" y="1188720"/>
            <a:ext cx="521208" cy="365760"/>
          </a:xfrm>
          <a:prstGeom prst="rect">
            <a:avLst/>
          </a:prstGeom>
          <a:noFill/>
          <a:ln/>
        </p:spPr>
        <p:txBody>
          <a:bodyPr wrap="square" lIns="0" tIns="0" rIns="0" bIns="0" rtlCol="0" anchor="ctr"/>
          <a:lstStyle/>
          <a:p>
            <a:pPr algn="ctr" indent="0" marL="0">
              <a:buNone/>
            </a:pPr>
            <a:r>
              <a:rPr lang="en-US" sz="1200" b="1" dirty="0">
                <a:solidFill>
                  <a:schemeClr val="tx2"/>
                </a:solidFill>
              </a:rPr>
              <a:t>Wed</a:t>
            </a:r>
            <a:endParaRPr lang="en-US" sz="1200" dirty="0"/>
          </a:p>
        </p:txBody>
      </p:sp>
      <p:sp>
        <p:nvSpPr>
          <p:cNvPr id="10" name="Text 8"/>
          <p:cNvSpPr txBox="1"/>
          <p:nvPr/>
        </p:nvSpPr>
        <p:spPr>
          <a:xfrm>
            <a:off x="7644384" y="1188720"/>
            <a:ext cx="521208" cy="365760"/>
          </a:xfrm>
          <a:prstGeom prst="rect">
            <a:avLst/>
          </a:prstGeom>
          <a:noFill/>
          <a:ln/>
        </p:spPr>
        <p:txBody>
          <a:bodyPr wrap="square" lIns="0" tIns="0" rIns="0" bIns="0" rtlCol="0" anchor="ctr"/>
          <a:lstStyle/>
          <a:p>
            <a:pPr algn="ctr" indent="0" marL="0">
              <a:buNone/>
            </a:pPr>
            <a:r>
              <a:rPr lang="en-US" sz="1200" b="1" dirty="0">
                <a:solidFill>
                  <a:schemeClr val="tx2"/>
                </a:solidFill>
              </a:rPr>
              <a:t>Thu</a:t>
            </a:r>
            <a:endParaRPr lang="en-US" sz="1200" dirty="0"/>
          </a:p>
        </p:txBody>
      </p:sp>
      <p:sp>
        <p:nvSpPr>
          <p:cNvPr id="11" name="Text 9"/>
          <p:cNvSpPr txBox="1"/>
          <p:nvPr/>
        </p:nvSpPr>
        <p:spPr>
          <a:xfrm>
            <a:off x="8165592" y="1188720"/>
            <a:ext cx="521208" cy="365760"/>
          </a:xfrm>
          <a:prstGeom prst="rect">
            <a:avLst/>
          </a:prstGeom>
          <a:noFill/>
          <a:ln/>
        </p:spPr>
        <p:txBody>
          <a:bodyPr wrap="square" lIns="0" tIns="0" rIns="0" bIns="0" rtlCol="0" anchor="ctr"/>
          <a:lstStyle/>
          <a:p>
            <a:pPr algn="ctr" indent="0" marL="0">
              <a:buNone/>
            </a:pPr>
            <a:r>
              <a:rPr lang="en-US" sz="1200" b="1" dirty="0">
                <a:solidFill>
                  <a:schemeClr val="tx2"/>
                </a:solidFill>
              </a:rPr>
              <a:t>Fri</a:t>
            </a:r>
            <a:endParaRPr lang="en-US" sz="1200" dirty="0"/>
          </a:p>
        </p:txBody>
      </p:sp>
      <p:sp>
        <p:nvSpPr>
          <p:cNvPr id="12" name="Text 10"/>
          <p:cNvSpPr txBox="1"/>
          <p:nvPr/>
        </p:nvSpPr>
        <p:spPr>
          <a:xfrm>
            <a:off x="5532120" y="1600200"/>
            <a:ext cx="548640" cy="411480"/>
          </a:xfrm>
          <a:prstGeom prst="rect">
            <a:avLst/>
          </a:prstGeom>
          <a:noFill/>
          <a:ln/>
        </p:spPr>
        <p:txBody>
          <a:bodyPr wrap="square" lIns="0" tIns="0" rIns="0" bIns="0" rtlCol="0" anchor="ctr"/>
          <a:lstStyle/>
          <a:p>
            <a:pPr indent="0" marL="0">
              <a:buNone/>
            </a:pPr>
            <a:r>
              <a:rPr lang="en-US" sz="1000" dirty="0">
                <a:solidFill>
                  <a:schemeClr val="accent4"/>
                </a:solidFill>
              </a:rPr>
              <a:t>9:00</a:t>
            </a:r>
            <a:endParaRPr lang="en-US" sz="1000" dirty="0"/>
          </a:p>
        </p:txBody>
      </p:sp>
      <p:sp>
        <p:nvSpPr>
          <p:cNvPr id="13" name="cell-46"/>
          <p:cNvSpPr/>
          <p:nvPr/>
        </p:nvSpPr>
        <p:spPr>
          <a:xfrm>
            <a:off x="6080760" y="1600200"/>
            <a:ext cx="484632" cy="374904"/>
          </a:xfrm>
          <a:prstGeom prst="rect">
            <a:avLst/>
          </a:prstGeom>
          <a:solidFill>
            <a:schemeClr val="accent1"/>
          </a:solidFill>
          <a:ln w="12700">
            <a:solidFill>
              <a:schemeClr val="accent1"/>
            </a:solidFill>
            <a:prstDash val="solid"/>
          </a:ln>
        </p:spPr>
      </p:sp>
      <p:sp>
        <p:nvSpPr>
          <p:cNvPr id="14" name="Text 12"/>
          <p:cNvSpPr txBox="1"/>
          <p:nvPr/>
        </p:nvSpPr>
        <p:spPr>
          <a:xfrm>
            <a:off x="6080760" y="1600200"/>
            <a:ext cx="484632" cy="374904"/>
          </a:xfrm>
          <a:prstGeom prst="rect">
            <a:avLst/>
          </a:prstGeom>
          <a:noFill/>
          <a:ln/>
        </p:spPr>
        <p:txBody>
          <a:bodyPr wrap="square" lIns="0" tIns="0" rIns="0" bIns="0" rtlCol="0" anchor="ctr"/>
          <a:lstStyle/>
          <a:p>
            <a:pPr algn="ctr" indent="0" marL="0">
              <a:buNone/>
            </a:pPr>
            <a:r>
              <a:rPr lang="en-US" sz="1000" b="1" dirty="0">
                <a:solidFill>
                  <a:schemeClr val="bg1"/>
                </a:solidFill>
              </a:rPr>
              <a:t>CS101</a:t>
            </a:r>
            <a:endParaRPr lang="en-US" sz="1000" dirty="0"/>
          </a:p>
        </p:txBody>
      </p:sp>
      <p:sp>
        <p:nvSpPr>
          <p:cNvPr id="15" name="cell-47"/>
          <p:cNvSpPr/>
          <p:nvPr/>
        </p:nvSpPr>
        <p:spPr>
          <a:xfrm>
            <a:off x="6601968" y="1600200"/>
            <a:ext cx="484632" cy="374904"/>
          </a:xfrm>
          <a:prstGeom prst="rect">
            <a:avLst/>
          </a:prstGeom>
          <a:solidFill>
            <a:schemeClr val="bg2"/>
          </a:solidFill>
          <a:ln w="12700">
            <a:solidFill>
              <a:schemeClr val="bg2"/>
            </a:solidFill>
            <a:prstDash val="solid"/>
          </a:ln>
        </p:spPr>
      </p:sp>
      <p:sp>
        <p:nvSpPr>
          <p:cNvPr id="16" name="cell-48"/>
          <p:cNvSpPr/>
          <p:nvPr/>
        </p:nvSpPr>
        <p:spPr>
          <a:xfrm>
            <a:off x="7123176" y="1600200"/>
            <a:ext cx="484632" cy="374904"/>
          </a:xfrm>
          <a:prstGeom prst="rect">
            <a:avLst/>
          </a:prstGeom>
          <a:solidFill>
            <a:schemeClr val="accent1"/>
          </a:solidFill>
          <a:ln w="12700">
            <a:solidFill>
              <a:schemeClr val="accent1"/>
            </a:solidFill>
            <a:prstDash val="solid"/>
          </a:ln>
        </p:spPr>
      </p:sp>
      <p:sp>
        <p:nvSpPr>
          <p:cNvPr id="17" name="Text 15"/>
          <p:cNvSpPr txBox="1"/>
          <p:nvPr/>
        </p:nvSpPr>
        <p:spPr>
          <a:xfrm>
            <a:off x="7123176" y="1600200"/>
            <a:ext cx="484632" cy="374904"/>
          </a:xfrm>
          <a:prstGeom prst="rect">
            <a:avLst/>
          </a:prstGeom>
          <a:noFill/>
          <a:ln/>
        </p:spPr>
        <p:txBody>
          <a:bodyPr wrap="square" lIns="0" tIns="0" rIns="0" bIns="0" rtlCol="0" anchor="ctr"/>
          <a:lstStyle/>
          <a:p>
            <a:pPr algn="ctr" indent="0" marL="0">
              <a:buNone/>
            </a:pPr>
            <a:r>
              <a:rPr lang="en-US" sz="1000" b="1" dirty="0">
                <a:solidFill>
                  <a:schemeClr val="bg1"/>
                </a:solidFill>
              </a:rPr>
              <a:t>PH101</a:t>
            </a:r>
            <a:endParaRPr lang="en-US" sz="1000" dirty="0"/>
          </a:p>
        </p:txBody>
      </p:sp>
      <p:sp>
        <p:nvSpPr>
          <p:cNvPr id="18" name="cell-49"/>
          <p:cNvSpPr/>
          <p:nvPr/>
        </p:nvSpPr>
        <p:spPr>
          <a:xfrm>
            <a:off x="7644384" y="1600200"/>
            <a:ext cx="484632" cy="374904"/>
          </a:xfrm>
          <a:prstGeom prst="rect">
            <a:avLst/>
          </a:prstGeom>
          <a:solidFill>
            <a:schemeClr val="bg2"/>
          </a:solidFill>
          <a:ln w="12700">
            <a:solidFill>
              <a:schemeClr val="bg2"/>
            </a:solidFill>
            <a:prstDash val="solid"/>
          </a:ln>
        </p:spPr>
      </p:sp>
      <p:sp>
        <p:nvSpPr>
          <p:cNvPr id="19" name="cell-50"/>
          <p:cNvSpPr/>
          <p:nvPr/>
        </p:nvSpPr>
        <p:spPr>
          <a:xfrm>
            <a:off x="8165592" y="1600200"/>
            <a:ext cx="484632" cy="374904"/>
          </a:xfrm>
          <a:prstGeom prst="rect">
            <a:avLst/>
          </a:prstGeom>
          <a:solidFill>
            <a:schemeClr val="bg2"/>
          </a:solidFill>
          <a:ln w="12700">
            <a:solidFill>
              <a:schemeClr val="bg2"/>
            </a:solidFill>
            <a:prstDash val="solid"/>
          </a:ln>
        </p:spPr>
      </p:sp>
      <p:sp>
        <p:nvSpPr>
          <p:cNvPr id="20" name="Text 18"/>
          <p:cNvSpPr txBox="1"/>
          <p:nvPr/>
        </p:nvSpPr>
        <p:spPr>
          <a:xfrm>
            <a:off x="5532120" y="2011680"/>
            <a:ext cx="548640" cy="411480"/>
          </a:xfrm>
          <a:prstGeom prst="rect">
            <a:avLst/>
          </a:prstGeom>
          <a:noFill/>
          <a:ln/>
        </p:spPr>
        <p:txBody>
          <a:bodyPr wrap="square" lIns="0" tIns="0" rIns="0" bIns="0" rtlCol="0" anchor="ctr"/>
          <a:lstStyle/>
          <a:p>
            <a:pPr indent="0" marL="0">
              <a:buNone/>
            </a:pPr>
            <a:r>
              <a:rPr lang="en-US" sz="1000" dirty="0">
                <a:solidFill>
                  <a:schemeClr val="accent4"/>
                </a:solidFill>
              </a:rPr>
              <a:t>10:00</a:t>
            </a:r>
            <a:endParaRPr lang="en-US" sz="1000" dirty="0"/>
          </a:p>
        </p:txBody>
      </p:sp>
      <p:sp>
        <p:nvSpPr>
          <p:cNvPr id="21" name="cell-51"/>
          <p:cNvSpPr/>
          <p:nvPr/>
        </p:nvSpPr>
        <p:spPr>
          <a:xfrm>
            <a:off x="6080760" y="2011680"/>
            <a:ext cx="484632" cy="374904"/>
          </a:xfrm>
          <a:prstGeom prst="rect">
            <a:avLst/>
          </a:prstGeom>
          <a:solidFill>
            <a:schemeClr val="bg2"/>
          </a:solidFill>
          <a:ln w="12700">
            <a:solidFill>
              <a:schemeClr val="bg2"/>
            </a:solidFill>
            <a:prstDash val="solid"/>
          </a:ln>
        </p:spPr>
      </p:sp>
      <p:sp>
        <p:nvSpPr>
          <p:cNvPr id="22" name="cell-52"/>
          <p:cNvSpPr/>
          <p:nvPr/>
        </p:nvSpPr>
        <p:spPr>
          <a:xfrm>
            <a:off x="6601968" y="2011680"/>
            <a:ext cx="484632" cy="374904"/>
          </a:xfrm>
          <a:prstGeom prst="rect">
            <a:avLst/>
          </a:prstGeom>
          <a:solidFill>
            <a:schemeClr val="accent1"/>
          </a:solidFill>
          <a:ln w="12700">
            <a:solidFill>
              <a:schemeClr val="accent1"/>
            </a:solidFill>
            <a:prstDash val="solid"/>
          </a:ln>
        </p:spPr>
      </p:sp>
      <p:sp>
        <p:nvSpPr>
          <p:cNvPr id="23" name="Text 21"/>
          <p:cNvSpPr txBox="1"/>
          <p:nvPr/>
        </p:nvSpPr>
        <p:spPr>
          <a:xfrm>
            <a:off x="6601968" y="2011680"/>
            <a:ext cx="484632" cy="374904"/>
          </a:xfrm>
          <a:prstGeom prst="rect">
            <a:avLst/>
          </a:prstGeom>
          <a:noFill/>
          <a:ln/>
        </p:spPr>
        <p:txBody>
          <a:bodyPr wrap="square" lIns="0" tIns="0" rIns="0" bIns="0" rtlCol="0" anchor="ctr"/>
          <a:lstStyle/>
          <a:p>
            <a:pPr algn="ctr" indent="0" marL="0">
              <a:buNone/>
            </a:pPr>
            <a:r>
              <a:rPr lang="en-US" sz="1000" b="1" dirty="0">
                <a:solidFill>
                  <a:schemeClr val="bg1"/>
                </a:solidFill>
              </a:rPr>
              <a:t>MA101</a:t>
            </a:r>
            <a:endParaRPr lang="en-US" sz="1000" dirty="0"/>
          </a:p>
        </p:txBody>
      </p:sp>
      <p:sp>
        <p:nvSpPr>
          <p:cNvPr id="24" name="cell-53"/>
          <p:cNvSpPr/>
          <p:nvPr/>
        </p:nvSpPr>
        <p:spPr>
          <a:xfrm>
            <a:off x="7123176" y="2011680"/>
            <a:ext cx="484632" cy="374904"/>
          </a:xfrm>
          <a:prstGeom prst="rect">
            <a:avLst/>
          </a:prstGeom>
          <a:solidFill>
            <a:schemeClr val="bg2"/>
          </a:solidFill>
          <a:ln w="12700">
            <a:solidFill>
              <a:schemeClr val="bg2"/>
            </a:solidFill>
            <a:prstDash val="solid"/>
          </a:ln>
        </p:spPr>
      </p:sp>
      <p:sp>
        <p:nvSpPr>
          <p:cNvPr id="25" name="cell-54"/>
          <p:cNvSpPr/>
          <p:nvPr/>
        </p:nvSpPr>
        <p:spPr>
          <a:xfrm>
            <a:off x="7644384" y="2011680"/>
            <a:ext cx="484632" cy="374904"/>
          </a:xfrm>
          <a:prstGeom prst="rect">
            <a:avLst/>
          </a:prstGeom>
          <a:solidFill>
            <a:schemeClr val="bg2"/>
          </a:solidFill>
          <a:ln w="12700">
            <a:solidFill>
              <a:schemeClr val="bg2"/>
            </a:solidFill>
            <a:prstDash val="solid"/>
          </a:ln>
        </p:spPr>
      </p:sp>
      <p:sp>
        <p:nvSpPr>
          <p:cNvPr id="26" name="cell-55"/>
          <p:cNvSpPr/>
          <p:nvPr/>
        </p:nvSpPr>
        <p:spPr>
          <a:xfrm>
            <a:off x="8165592" y="2011680"/>
            <a:ext cx="484632" cy="374904"/>
          </a:xfrm>
          <a:prstGeom prst="rect">
            <a:avLst/>
          </a:prstGeom>
          <a:solidFill>
            <a:schemeClr val="bg2"/>
          </a:solidFill>
          <a:ln w="12700">
            <a:solidFill>
              <a:schemeClr val="bg2"/>
            </a:solidFill>
            <a:prstDash val="solid"/>
          </a:ln>
        </p:spPr>
      </p:sp>
      <p:sp>
        <p:nvSpPr>
          <p:cNvPr id="27" name="Text 25"/>
          <p:cNvSpPr txBox="1"/>
          <p:nvPr/>
        </p:nvSpPr>
        <p:spPr>
          <a:xfrm>
            <a:off x="5532120" y="2423160"/>
            <a:ext cx="548640" cy="411480"/>
          </a:xfrm>
          <a:prstGeom prst="rect">
            <a:avLst/>
          </a:prstGeom>
          <a:noFill/>
          <a:ln/>
        </p:spPr>
        <p:txBody>
          <a:bodyPr wrap="square" lIns="0" tIns="0" rIns="0" bIns="0" rtlCol="0" anchor="ctr"/>
          <a:lstStyle/>
          <a:p>
            <a:pPr indent="0" marL="0">
              <a:buNone/>
            </a:pPr>
            <a:r>
              <a:rPr lang="en-US" sz="1000" dirty="0">
                <a:solidFill>
                  <a:schemeClr val="accent4"/>
                </a:solidFill>
              </a:rPr>
              <a:t>11:00</a:t>
            </a:r>
            <a:endParaRPr lang="en-US" sz="1000" dirty="0"/>
          </a:p>
        </p:txBody>
      </p:sp>
      <p:sp>
        <p:nvSpPr>
          <p:cNvPr id="28" name="cell-56"/>
          <p:cNvSpPr/>
          <p:nvPr/>
        </p:nvSpPr>
        <p:spPr>
          <a:xfrm>
            <a:off x="6080760" y="2423160"/>
            <a:ext cx="484632" cy="374904"/>
          </a:xfrm>
          <a:prstGeom prst="rect">
            <a:avLst/>
          </a:prstGeom>
          <a:solidFill>
            <a:schemeClr val="bg2"/>
          </a:solidFill>
          <a:ln w="12700">
            <a:solidFill>
              <a:schemeClr val="bg2"/>
            </a:solidFill>
            <a:prstDash val="solid"/>
          </a:ln>
        </p:spPr>
      </p:sp>
      <p:sp>
        <p:nvSpPr>
          <p:cNvPr id="29" name="cell-57"/>
          <p:cNvSpPr/>
          <p:nvPr/>
        </p:nvSpPr>
        <p:spPr>
          <a:xfrm>
            <a:off x="6601968" y="2423160"/>
            <a:ext cx="484632" cy="374904"/>
          </a:xfrm>
          <a:prstGeom prst="rect">
            <a:avLst/>
          </a:prstGeom>
          <a:solidFill>
            <a:schemeClr val="bg2"/>
          </a:solidFill>
          <a:ln w="12700">
            <a:solidFill>
              <a:schemeClr val="bg2"/>
            </a:solidFill>
            <a:prstDash val="solid"/>
          </a:ln>
        </p:spPr>
      </p:sp>
      <p:sp>
        <p:nvSpPr>
          <p:cNvPr id="30" name="cell-58"/>
          <p:cNvSpPr/>
          <p:nvPr/>
        </p:nvSpPr>
        <p:spPr>
          <a:xfrm>
            <a:off x="7123176" y="2423160"/>
            <a:ext cx="484632" cy="374904"/>
          </a:xfrm>
          <a:prstGeom prst="rect">
            <a:avLst/>
          </a:prstGeom>
          <a:solidFill>
            <a:schemeClr val="bg2"/>
          </a:solidFill>
          <a:ln w="12700">
            <a:solidFill>
              <a:schemeClr val="bg2"/>
            </a:solidFill>
            <a:prstDash val="solid"/>
          </a:ln>
        </p:spPr>
      </p:sp>
      <p:sp>
        <p:nvSpPr>
          <p:cNvPr id="31" name="cell-59"/>
          <p:cNvSpPr/>
          <p:nvPr/>
        </p:nvSpPr>
        <p:spPr>
          <a:xfrm>
            <a:off x="7644384" y="2423160"/>
            <a:ext cx="484632" cy="374904"/>
          </a:xfrm>
          <a:prstGeom prst="rect">
            <a:avLst/>
          </a:prstGeom>
          <a:solidFill>
            <a:schemeClr val="bg2"/>
          </a:solidFill>
          <a:ln w="12700">
            <a:solidFill>
              <a:schemeClr val="bg2"/>
            </a:solidFill>
            <a:prstDash val="solid"/>
          </a:ln>
        </p:spPr>
      </p:sp>
      <p:sp>
        <p:nvSpPr>
          <p:cNvPr id="32" name="cell-60"/>
          <p:cNvSpPr/>
          <p:nvPr/>
        </p:nvSpPr>
        <p:spPr>
          <a:xfrm>
            <a:off x="8165592" y="2423160"/>
            <a:ext cx="484632" cy="374904"/>
          </a:xfrm>
          <a:prstGeom prst="rect">
            <a:avLst/>
          </a:prstGeom>
          <a:solidFill>
            <a:schemeClr val="bg2"/>
          </a:solidFill>
          <a:ln w="12700">
            <a:solidFill>
              <a:schemeClr val="bg2"/>
            </a:solidFill>
            <a:prstDash val="solid"/>
          </a:ln>
        </p:spPr>
      </p:sp>
      <p:sp>
        <p:nvSpPr>
          <p:cNvPr id="33" name="Text 31"/>
          <p:cNvSpPr txBox="1"/>
          <p:nvPr/>
        </p:nvSpPr>
        <p:spPr>
          <a:xfrm>
            <a:off x="5532120" y="2834640"/>
            <a:ext cx="548640" cy="411480"/>
          </a:xfrm>
          <a:prstGeom prst="rect">
            <a:avLst/>
          </a:prstGeom>
          <a:noFill/>
          <a:ln/>
        </p:spPr>
        <p:txBody>
          <a:bodyPr wrap="square" lIns="0" tIns="0" rIns="0" bIns="0" rtlCol="0" anchor="ctr"/>
          <a:lstStyle/>
          <a:p>
            <a:pPr indent="0" marL="0">
              <a:buNone/>
            </a:pPr>
            <a:r>
              <a:rPr lang="en-US" sz="1000" dirty="0">
                <a:solidFill>
                  <a:schemeClr val="accent4"/>
                </a:solidFill>
              </a:rPr>
              <a:t>12:00</a:t>
            </a:r>
            <a:endParaRPr lang="en-US" sz="1000" dirty="0"/>
          </a:p>
        </p:txBody>
      </p:sp>
      <p:sp>
        <p:nvSpPr>
          <p:cNvPr id="34" name="cell-61"/>
          <p:cNvSpPr/>
          <p:nvPr/>
        </p:nvSpPr>
        <p:spPr>
          <a:xfrm>
            <a:off x="6080760" y="2834640"/>
            <a:ext cx="484632" cy="374904"/>
          </a:xfrm>
          <a:prstGeom prst="rect">
            <a:avLst/>
          </a:prstGeom>
          <a:solidFill>
            <a:schemeClr val="bg2"/>
          </a:solidFill>
          <a:ln w="12700">
            <a:solidFill>
              <a:schemeClr val="bg2"/>
            </a:solidFill>
            <a:prstDash val="solid"/>
          </a:ln>
        </p:spPr>
      </p:sp>
      <p:sp>
        <p:nvSpPr>
          <p:cNvPr id="35" name="cell-62"/>
          <p:cNvSpPr/>
          <p:nvPr/>
        </p:nvSpPr>
        <p:spPr>
          <a:xfrm>
            <a:off x="6601968" y="2834640"/>
            <a:ext cx="484632" cy="374904"/>
          </a:xfrm>
          <a:prstGeom prst="rect">
            <a:avLst/>
          </a:prstGeom>
          <a:solidFill>
            <a:schemeClr val="bg2"/>
          </a:solidFill>
          <a:ln w="12700">
            <a:solidFill>
              <a:schemeClr val="bg2"/>
            </a:solidFill>
            <a:prstDash val="solid"/>
          </a:ln>
        </p:spPr>
      </p:sp>
      <p:sp>
        <p:nvSpPr>
          <p:cNvPr id="36" name="cell-63"/>
          <p:cNvSpPr/>
          <p:nvPr/>
        </p:nvSpPr>
        <p:spPr>
          <a:xfrm>
            <a:off x="7123176" y="2834640"/>
            <a:ext cx="484632" cy="374904"/>
          </a:xfrm>
          <a:prstGeom prst="rect">
            <a:avLst/>
          </a:prstGeom>
          <a:solidFill>
            <a:schemeClr val="bg2"/>
          </a:solidFill>
          <a:ln w="12700">
            <a:solidFill>
              <a:schemeClr val="bg2"/>
            </a:solidFill>
            <a:prstDash val="solid"/>
          </a:ln>
        </p:spPr>
      </p:sp>
      <p:sp>
        <p:nvSpPr>
          <p:cNvPr id="37" name="cell-64"/>
          <p:cNvSpPr/>
          <p:nvPr/>
        </p:nvSpPr>
        <p:spPr>
          <a:xfrm>
            <a:off x="7644384" y="2834640"/>
            <a:ext cx="484632" cy="374904"/>
          </a:xfrm>
          <a:prstGeom prst="rect">
            <a:avLst/>
          </a:prstGeom>
          <a:solidFill>
            <a:schemeClr val="bg2"/>
          </a:solidFill>
          <a:ln w="12700">
            <a:solidFill>
              <a:schemeClr val="bg2"/>
            </a:solidFill>
            <a:prstDash val="solid"/>
          </a:ln>
        </p:spPr>
      </p:sp>
      <p:sp>
        <p:nvSpPr>
          <p:cNvPr id="38" name="cell-65"/>
          <p:cNvSpPr/>
          <p:nvPr/>
        </p:nvSpPr>
        <p:spPr>
          <a:xfrm>
            <a:off x="8165592" y="2834640"/>
            <a:ext cx="484632" cy="374904"/>
          </a:xfrm>
          <a:prstGeom prst="rect">
            <a:avLst/>
          </a:prstGeom>
          <a:solidFill>
            <a:schemeClr val="accent1"/>
          </a:solidFill>
          <a:ln w="12700">
            <a:solidFill>
              <a:schemeClr val="accent1"/>
            </a:solidFill>
            <a:prstDash val="solid"/>
          </a:ln>
        </p:spPr>
      </p:sp>
      <p:sp>
        <p:nvSpPr>
          <p:cNvPr id="39" name="Text 37"/>
          <p:cNvSpPr txBox="1"/>
          <p:nvPr/>
        </p:nvSpPr>
        <p:spPr>
          <a:xfrm>
            <a:off x="8165592" y="2834640"/>
            <a:ext cx="484632" cy="374904"/>
          </a:xfrm>
          <a:prstGeom prst="rect">
            <a:avLst/>
          </a:prstGeom>
          <a:noFill/>
          <a:ln/>
        </p:spPr>
        <p:txBody>
          <a:bodyPr wrap="square" lIns="0" tIns="0" rIns="0" bIns="0" rtlCol="0" anchor="ctr"/>
          <a:lstStyle/>
          <a:p>
            <a:pPr algn="ctr" indent="0" marL="0">
              <a:buNone/>
            </a:pPr>
            <a:r>
              <a:rPr lang="en-US" sz="1000" b="1" dirty="0">
                <a:solidFill>
                  <a:schemeClr val="bg1"/>
                </a:solidFill>
              </a:rPr>
              <a:t>CS102L</a:t>
            </a:r>
            <a:endParaRPr lang="en-US" sz="1000" dirty="0"/>
          </a:p>
        </p:txBody>
      </p:sp>
      <p:sp>
        <p:nvSpPr>
          <p:cNvPr id="40" name="card-66"/>
          <p:cNvSpPr/>
          <p:nvPr/>
        </p:nvSpPr>
        <p:spPr>
          <a:xfrm>
            <a:off x="5532120" y="3383280"/>
            <a:ext cx="3154680" cy="1143000"/>
          </a:xfrm>
          <a:prstGeom prst="roundRect">
            <a:avLst>
              <a:gd name="adj" fmla="val 6400"/>
            </a:avLst>
          </a:prstGeom>
          <a:solidFill>
            <a:schemeClr val="bg2"/>
          </a:solidFill>
          <a:ln w="12700">
            <a:solidFill>
              <a:schemeClr val="bg2"/>
            </a:solidFill>
            <a:prstDash val="solid"/>
          </a:ln>
        </p:spPr>
      </p:sp>
      <p:sp>
        <p:nvSpPr>
          <p:cNvPr id="41" name="Text 39"/>
          <p:cNvSpPr txBox="1"/>
          <p:nvPr/>
        </p:nvSpPr>
        <p:spPr>
          <a:xfrm>
            <a:off x="5715000" y="3456432"/>
            <a:ext cx="2788920" cy="365760"/>
          </a:xfrm>
          <a:prstGeom prst="rect">
            <a:avLst/>
          </a:prstGeom>
          <a:noFill/>
          <a:ln/>
        </p:spPr>
        <p:txBody>
          <a:bodyPr wrap="square" lIns="0" tIns="0" rIns="0" bIns="0" rtlCol="0" anchor="ctr"/>
          <a:lstStyle/>
          <a:p>
            <a:pPr indent="0" marL="0">
              <a:buNone/>
            </a:pPr>
            <a:r>
              <a:rPr lang="en-US" sz="1800" b="1" dirty="0">
                <a:solidFill>
                  <a:schemeClr val="tx2"/>
                </a:solidFill>
              </a:rPr>
              <a:t>2-D array</a:t>
            </a:r>
            <a:endParaRPr lang="en-US" sz="1800" dirty="0"/>
          </a:p>
        </p:txBody>
      </p:sp>
      <p:sp>
        <p:nvSpPr>
          <p:cNvPr id="42" name="Text 40"/>
          <p:cNvSpPr txBox="1"/>
          <p:nvPr/>
        </p:nvSpPr>
        <p:spPr>
          <a:xfrm>
            <a:off x="5715000" y="3794760"/>
            <a:ext cx="2788920" cy="685800"/>
          </a:xfrm>
          <a:prstGeom prst="rect">
            <a:avLst/>
          </a:prstGeom>
          <a:noFill/>
          <a:ln/>
        </p:spPr>
        <p:txBody>
          <a:bodyPr wrap="square" lIns="0" tIns="0" rIns="0" bIns="0" rtlCol="0" anchor="t"/>
          <a:lstStyle/>
          <a:p>
            <a:pPr indent="0" marL="0">
              <a:buNone/>
            </a:pPr>
            <a:r>
              <a:rPr lang="en-US" sz="1400" dirty="0">
                <a:solidFill>
                  <a:schemeClr val="tx1"/>
                </a:solidFill>
              </a:rPr>
              <a:t>Course[5][5]: days x time slots. A clash is a cell that is already filled.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CO4: objects that fail safely</a:t>
            </a:r>
            <a:endParaRPr lang="en-US" sz="3200" dirty="0"/>
          </a:p>
        </p:txBody>
      </p:sp>
      <p:sp>
        <p:nvSpPr>
          <p:cNvPr id="3" name="card-67"/>
          <p:cNvSpPr/>
          <p:nvPr/>
        </p:nvSpPr>
        <p:spPr>
          <a:xfrm>
            <a:off x="457200" y="1188720"/>
            <a:ext cx="4206240" cy="2011680"/>
          </a:xfrm>
          <a:prstGeom prst="roundRect">
            <a:avLst>
              <a:gd name="adj" fmla="val 3636"/>
            </a:avLst>
          </a:prstGeom>
          <a:solidFill>
            <a:schemeClr val="bg2"/>
          </a:solidFill>
          <a:ln w="12700">
            <a:solidFill>
              <a:schemeClr val="bg2"/>
            </a:solidFill>
            <a:prstDash val="solid"/>
          </a:ln>
        </p:spPr>
      </p:sp>
      <p:sp>
        <p:nvSpPr>
          <p:cNvPr id="4" name="Text 2"/>
          <p:cNvSpPr txBox="1"/>
          <p:nvPr/>
        </p:nvSpPr>
        <p:spPr>
          <a:xfrm>
            <a:off x="640080" y="1280160"/>
            <a:ext cx="3840480" cy="365760"/>
          </a:xfrm>
          <a:prstGeom prst="rect">
            <a:avLst/>
          </a:prstGeom>
          <a:noFill/>
          <a:ln/>
        </p:spPr>
        <p:txBody>
          <a:bodyPr wrap="square" lIns="0" tIns="0" rIns="0" bIns="0" rtlCol="0" anchor="ctr"/>
          <a:lstStyle/>
          <a:p>
            <a:pPr indent="0" marL="0">
              <a:buNone/>
            </a:pPr>
            <a:r>
              <a:rPr lang="en-US" sz="1800" b="1" dirty="0">
                <a:solidFill>
                  <a:schemeClr val="tx2"/>
                </a:solidFill>
              </a:rPr>
              <a:t>Classes and inheritance</a:t>
            </a:r>
            <a:endParaRPr lang="en-US" sz="1800" dirty="0"/>
          </a:p>
        </p:txBody>
      </p:sp>
      <p:sp>
        <p:nvSpPr>
          <p:cNvPr id="5" name="Text 3"/>
          <p:cNvSpPr txBox="1"/>
          <p:nvPr/>
        </p:nvSpPr>
        <p:spPr>
          <a:xfrm>
            <a:off x="640080" y="1737360"/>
            <a:ext cx="384048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Course has private fields and getters</a:t>
            </a:r>
            <a:endParaRPr lang="en-US" sz="1400" dirty="0"/>
          </a:p>
          <a:p>
            <a:pPr marL="342900" indent="-342900">
              <a:spcAft>
                <a:spcPts val="600"/>
              </a:spcAft>
              <a:buSzPct val="100000"/>
              <a:buChar char="•"/>
            </a:pPr>
            <a:r>
              <a:rPr lang="en-US" sz="1400" dirty="0">
                <a:solidFill>
                  <a:schemeClr val="tx1"/>
                </a:solidFill>
              </a:rPr>
              <a:t>Overloaded constructors use this(...)</a:t>
            </a:r>
            <a:endParaRPr lang="en-US" sz="1400" dirty="0"/>
          </a:p>
          <a:p>
            <a:pPr marL="342900" indent="-342900">
              <a:spcAft>
                <a:spcPts val="600"/>
              </a:spcAft>
              <a:buSzPct val="100000"/>
              <a:buChar char="•"/>
            </a:pPr>
            <a:r>
              <a:rPr lang="en-US" sz="1400" dirty="0">
                <a:solidFill>
                  <a:schemeClr val="tx1"/>
                </a:solidFill>
              </a:rPr>
              <a:t>LabCourse extends Course, overrides getHours()</a:t>
            </a:r>
            <a:endParaRPr lang="en-US" sz="1400" dirty="0"/>
          </a:p>
        </p:txBody>
      </p:sp>
      <p:sp>
        <p:nvSpPr>
          <p:cNvPr id="6" name="card-68"/>
          <p:cNvSpPr/>
          <p:nvPr/>
        </p:nvSpPr>
        <p:spPr>
          <a:xfrm>
            <a:off x="457200" y="3337560"/>
            <a:ext cx="4206240" cy="1188720"/>
          </a:xfrm>
          <a:prstGeom prst="roundRect">
            <a:avLst>
              <a:gd name="adj" fmla="val 6154"/>
            </a:avLst>
          </a:prstGeom>
          <a:solidFill>
            <a:schemeClr val="accent1"/>
          </a:solidFill>
          <a:ln w="12700">
            <a:solidFill>
              <a:schemeClr val="accent1"/>
            </a:solidFill>
            <a:prstDash val="solid"/>
          </a:ln>
        </p:spPr>
      </p:sp>
      <p:sp>
        <p:nvSpPr>
          <p:cNvPr id="7" name="Text 5"/>
          <p:cNvSpPr txBox="1"/>
          <p:nvPr/>
        </p:nvSpPr>
        <p:spPr>
          <a:xfrm>
            <a:off x="640080" y="3410712"/>
            <a:ext cx="3840480" cy="365760"/>
          </a:xfrm>
          <a:prstGeom prst="rect">
            <a:avLst/>
          </a:prstGeom>
          <a:noFill/>
          <a:ln/>
        </p:spPr>
        <p:txBody>
          <a:bodyPr wrap="square" lIns="0" tIns="0" rIns="0" bIns="0" rtlCol="0" anchor="ctr"/>
          <a:lstStyle/>
          <a:p>
            <a:pPr indent="0" marL="0">
              <a:buNone/>
            </a:pPr>
            <a:r>
              <a:rPr lang="en-US" sz="1600" b="1" dirty="0">
                <a:solidFill>
                  <a:schemeClr val="accent2"/>
                </a:solidFill>
              </a:rPr>
              <a:t>Polymorphism in action</a:t>
            </a:r>
            <a:endParaRPr lang="en-US" sz="1600" dirty="0"/>
          </a:p>
        </p:txBody>
      </p:sp>
      <p:sp>
        <p:nvSpPr>
          <p:cNvPr id="8" name="Text 6"/>
          <p:cNvSpPr txBox="1"/>
          <p:nvPr/>
        </p:nvSpPr>
        <p:spPr>
          <a:xfrm>
            <a:off x="640080" y="3794760"/>
            <a:ext cx="3840480" cy="640080"/>
          </a:xfrm>
          <a:prstGeom prst="rect">
            <a:avLst/>
          </a:prstGeom>
          <a:noFill/>
          <a:ln/>
        </p:spPr>
        <p:txBody>
          <a:bodyPr wrap="square" lIns="0" tIns="0" rIns="0" bIns="0" rtlCol="0" anchor="t"/>
          <a:lstStyle/>
          <a:p>
            <a:pPr indent="0" marL="0">
              <a:buNone/>
            </a:pPr>
            <a:r>
              <a:rPr lang="en-US" sz="1400" dirty="0">
                <a:solidFill>
                  <a:schemeClr val="bg1"/>
                </a:solidFill>
              </a:rPr>
              <a:t>Course, 3 credits = 3 hours a week</a:t>
            </a:r>
            <a:endParaRPr lang="en-US" sz="1400" dirty="0"/>
          </a:p>
          <a:p>
            <a:pPr indent="0" marL="0">
              <a:buNone/>
            </a:pPr>
            <a:r>
              <a:rPr lang="en-US" sz="1400" dirty="0">
                <a:solidFill>
                  <a:schemeClr val="bg1"/>
                </a:solidFill>
              </a:rPr>
              <a:t>LabCourse, 2 credits = 4 hours a week</a:t>
            </a:r>
            <a:endParaRPr lang="en-US" sz="1400" dirty="0"/>
          </a:p>
        </p:txBody>
      </p:sp>
      <p:sp>
        <p:nvSpPr>
          <p:cNvPr id="9" name="code-bg-69"/>
          <p:cNvSpPr/>
          <p:nvPr/>
        </p:nvSpPr>
        <p:spPr>
          <a:xfrm>
            <a:off x="4846320" y="1188720"/>
            <a:ext cx="3840480" cy="2194560"/>
          </a:xfrm>
          <a:prstGeom prst="roundRect">
            <a:avLst>
              <a:gd name="adj" fmla="val 3333"/>
            </a:avLst>
          </a:prstGeom>
          <a:solidFill>
            <a:schemeClr val="accent6"/>
          </a:solidFill>
          <a:ln w="12700">
            <a:solidFill>
              <a:schemeClr val="accent6"/>
            </a:solidFill>
            <a:prstDash val="solid"/>
          </a:ln>
        </p:spPr>
      </p:sp>
      <p:sp>
        <p:nvSpPr>
          <p:cNvPr id="10" name="code-70"/>
          <p:cNvSpPr txBox="1"/>
          <p:nvPr/>
        </p:nvSpPr>
        <p:spPr>
          <a:xfrm>
            <a:off x="4983480" y="1280160"/>
            <a:ext cx="3566160" cy="201168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try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check(c);</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registered.add(c);</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catch (ClashException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CreditLimitException e)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System.out.println(e.getMessage());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finally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System.out.println("done");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1" name="card-71"/>
          <p:cNvSpPr/>
          <p:nvPr/>
        </p:nvSpPr>
        <p:spPr>
          <a:xfrm>
            <a:off x="4846320" y="3520440"/>
            <a:ext cx="3840480" cy="1005840"/>
          </a:xfrm>
          <a:prstGeom prst="roundRect">
            <a:avLst>
              <a:gd name="adj" fmla="val 7273"/>
            </a:avLst>
          </a:prstGeom>
          <a:solidFill>
            <a:schemeClr val="bg2"/>
          </a:solidFill>
          <a:ln w="12700">
            <a:solidFill>
              <a:schemeClr val="bg2"/>
            </a:solidFill>
            <a:prstDash val="solid"/>
          </a:ln>
        </p:spPr>
      </p:sp>
      <p:sp>
        <p:nvSpPr>
          <p:cNvPr id="12" name="Text 10"/>
          <p:cNvSpPr txBox="1"/>
          <p:nvPr/>
        </p:nvSpPr>
        <p:spPr>
          <a:xfrm>
            <a:off x="5029200" y="3593592"/>
            <a:ext cx="3474720" cy="868680"/>
          </a:xfrm>
          <a:prstGeom prst="rect">
            <a:avLst/>
          </a:prstGeom>
          <a:noFill/>
          <a:ln/>
        </p:spPr>
        <p:txBody>
          <a:bodyPr wrap="square" lIns="0" tIns="0" rIns="0" bIns="0" rtlCol="0" anchor="ctr"/>
          <a:lstStyle/>
          <a:p>
            <a:pPr indent="0" marL="0">
              <a:buNone/>
            </a:pPr>
            <a:r>
              <a:rPr lang="en-US" sz="1400" dirty="0">
                <a:solidFill>
                  <a:schemeClr val="tx1"/>
                </a:solidFill>
              </a:rPr>
              <a:t>2 custom checked exceptions, plus IllegalArgumentException for bad data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CO5: strings, algorithms and files</a:t>
            </a:r>
            <a:endParaRPr lang="en-US" sz="3200" dirty="0"/>
          </a:p>
        </p:txBody>
      </p:sp>
      <p:sp>
        <p:nvSpPr>
          <p:cNvPr id="3" name="card-72"/>
          <p:cNvSpPr/>
          <p:nvPr/>
        </p:nvSpPr>
        <p:spPr>
          <a:xfrm>
            <a:off x="457200" y="1188720"/>
            <a:ext cx="2651760" cy="3337560"/>
          </a:xfrm>
          <a:prstGeom prst="roundRect">
            <a:avLst>
              <a:gd name="adj" fmla="val 2759"/>
            </a:avLst>
          </a:prstGeom>
          <a:solidFill>
            <a:schemeClr val="bg2"/>
          </a:solidFill>
          <a:ln w="12700">
            <a:solidFill>
              <a:schemeClr val="bg2"/>
            </a:solidFill>
            <a:prstDash val="solid"/>
          </a:ln>
        </p:spPr>
      </p:sp>
      <p:sp>
        <p:nvSpPr>
          <p:cNvPr id="4" name="icon-bg-73"/>
          <p:cNvSpPr/>
          <p:nvPr/>
        </p:nvSpPr>
        <p:spPr>
          <a:xfrm>
            <a:off x="640080" y="1325880"/>
            <a:ext cx="594360" cy="594360"/>
          </a:xfrm>
          <a:prstGeom prst="ellipse">
            <a:avLst/>
          </a:prstGeom>
          <a:solidFill>
            <a:schemeClr val="accent1"/>
          </a:solidFill>
          <a:ln w="12700">
            <a:solidFill>
              <a:schemeClr val="accent1"/>
            </a:solidFill>
            <a:prstDash val="solid"/>
          </a:ln>
        </p:spPr>
      </p:sp>
      <p:pic>
        <p:nvPicPr>
          <p:cNvPr id="5" name="Image 0" descr="FaFont">    </p:cNvPr>
          <p:cNvPicPr>
            <a:picLocks noChangeAspect="1"/>
          </p:cNvPicPr>
          <p:nvPr/>
        </p:nvPicPr>
        <p:blipFill>
          <a:blip r:embed="rId1"/>
          <a:stretch>
            <a:fillRect/>
          </a:stretch>
        </p:blipFill>
        <p:spPr>
          <a:xfrm>
            <a:off x="788670" y="1474470"/>
            <a:ext cx="297180" cy="297180"/>
          </a:xfrm>
          <a:prstGeom prst="rect">
            <a:avLst/>
          </a:prstGeom>
        </p:spPr>
      </p:pic>
      <p:sp>
        <p:nvSpPr>
          <p:cNvPr id="6" name="Text 3"/>
          <p:cNvSpPr txBox="1"/>
          <p:nvPr/>
        </p:nvSpPr>
        <p:spPr>
          <a:xfrm>
            <a:off x="640080" y="2011680"/>
            <a:ext cx="2286000" cy="365760"/>
          </a:xfrm>
          <a:prstGeom prst="rect">
            <a:avLst/>
          </a:prstGeom>
          <a:noFill/>
          <a:ln/>
        </p:spPr>
        <p:txBody>
          <a:bodyPr wrap="square" lIns="0" tIns="0" rIns="0" bIns="0" rtlCol="0" anchor="ctr"/>
          <a:lstStyle/>
          <a:p>
            <a:pPr indent="0" marL="0">
              <a:buNone/>
            </a:pPr>
            <a:r>
              <a:rPr lang="en-US" sz="1800" b="1" dirty="0">
                <a:solidFill>
                  <a:schemeClr val="tx2"/>
                </a:solidFill>
              </a:rPr>
              <a:t>Strings</a:t>
            </a:r>
            <a:endParaRPr lang="en-US" sz="1800" dirty="0"/>
          </a:p>
        </p:txBody>
      </p:sp>
      <p:sp>
        <p:nvSpPr>
          <p:cNvPr id="7" name="Text 4"/>
          <p:cNvSpPr txBox="1"/>
          <p:nvPr/>
        </p:nvSpPr>
        <p:spPr>
          <a:xfrm>
            <a:off x="640080" y="2468880"/>
            <a:ext cx="2331720" cy="1965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StringBuilder builds the timetable</a:t>
            </a:r>
            <a:endParaRPr lang="en-US" sz="1400" dirty="0"/>
          </a:p>
          <a:p>
            <a:pPr marL="342900" indent="-342900">
              <a:spcAft>
                <a:spcPts val="600"/>
              </a:spcAft>
              <a:buSzPct val="100000"/>
              <a:buChar char="•"/>
            </a:pPr>
            <a:r>
              <a:rPr lang="en-US" sz="1400" dirty="0">
                <a:solidFill>
                  <a:schemeClr val="tx1"/>
                </a:solidFill>
              </a:rPr>
              <a:t>equalsIgnoreCase for IDs</a:t>
            </a:r>
            <a:endParaRPr lang="en-US" sz="1400" dirty="0"/>
          </a:p>
          <a:p>
            <a:pPr marL="342900" indent="-342900">
              <a:spcAft>
                <a:spcPts val="600"/>
              </a:spcAft>
              <a:buSzPct val="100000"/>
              <a:buChar char="•"/>
            </a:pPr>
            <a:r>
              <a:rPr lang="en-US" sz="1400" dirty="0">
                <a:solidFill>
                  <a:schemeClr val="tx1"/>
                </a:solidFill>
              </a:rPr>
              <a:t>split(",") parses file lines</a:t>
            </a:r>
            <a:endParaRPr lang="en-US" sz="1400" dirty="0"/>
          </a:p>
          <a:p>
            <a:pPr marL="342900" indent="-342900">
              <a:spcAft>
                <a:spcPts val="600"/>
              </a:spcAft>
              <a:buSzPct val="100000"/>
              <a:buChar char="•"/>
            </a:pPr>
            <a:r>
              <a:rPr lang="en-US" sz="1400" dirty="0">
                <a:solidFill>
                  <a:schemeClr val="tx1"/>
                </a:solidFill>
              </a:rPr>
              <a:t>contains() for name search</a:t>
            </a:r>
            <a:endParaRPr lang="en-US" sz="1400" dirty="0"/>
          </a:p>
        </p:txBody>
      </p:sp>
      <p:sp>
        <p:nvSpPr>
          <p:cNvPr id="8" name="card-74"/>
          <p:cNvSpPr/>
          <p:nvPr/>
        </p:nvSpPr>
        <p:spPr>
          <a:xfrm>
            <a:off x="3246120" y="1188720"/>
            <a:ext cx="2651760" cy="3337560"/>
          </a:xfrm>
          <a:prstGeom prst="roundRect">
            <a:avLst>
              <a:gd name="adj" fmla="val 2759"/>
            </a:avLst>
          </a:prstGeom>
          <a:solidFill>
            <a:schemeClr val="bg2"/>
          </a:solidFill>
          <a:ln w="12700">
            <a:solidFill>
              <a:schemeClr val="bg2"/>
            </a:solidFill>
            <a:prstDash val="solid"/>
          </a:ln>
        </p:spPr>
      </p:sp>
      <p:sp>
        <p:nvSpPr>
          <p:cNvPr id="9" name="icon-bg-75"/>
          <p:cNvSpPr/>
          <p:nvPr/>
        </p:nvSpPr>
        <p:spPr>
          <a:xfrm>
            <a:off x="3429000" y="1325880"/>
            <a:ext cx="594360" cy="594360"/>
          </a:xfrm>
          <a:prstGeom prst="ellipse">
            <a:avLst/>
          </a:prstGeom>
          <a:solidFill>
            <a:schemeClr val="accent1"/>
          </a:solidFill>
          <a:ln w="12700">
            <a:solidFill>
              <a:schemeClr val="accent1"/>
            </a:solidFill>
            <a:prstDash val="solid"/>
          </a:ln>
        </p:spPr>
      </p:sp>
      <p:pic>
        <p:nvPicPr>
          <p:cNvPr id="10" name="Image 1" descr="FaSortAmountDown">    </p:cNvPr>
          <p:cNvPicPr>
            <a:picLocks noChangeAspect="1"/>
          </p:cNvPicPr>
          <p:nvPr/>
        </p:nvPicPr>
        <p:blipFill>
          <a:blip r:embed="rId2"/>
          <a:stretch>
            <a:fillRect/>
          </a:stretch>
        </p:blipFill>
        <p:spPr>
          <a:xfrm>
            <a:off x="3577590" y="1474470"/>
            <a:ext cx="297180" cy="297180"/>
          </a:xfrm>
          <a:prstGeom prst="rect">
            <a:avLst/>
          </a:prstGeom>
        </p:spPr>
      </p:pic>
      <p:sp>
        <p:nvSpPr>
          <p:cNvPr id="11" name="Text 7"/>
          <p:cNvSpPr txBox="1"/>
          <p:nvPr/>
        </p:nvSpPr>
        <p:spPr>
          <a:xfrm>
            <a:off x="3429000" y="2011680"/>
            <a:ext cx="2286000" cy="365760"/>
          </a:xfrm>
          <a:prstGeom prst="rect">
            <a:avLst/>
          </a:prstGeom>
          <a:noFill/>
          <a:ln/>
        </p:spPr>
        <p:txBody>
          <a:bodyPr wrap="square" lIns="0" tIns="0" rIns="0" bIns="0" rtlCol="0" anchor="ctr"/>
          <a:lstStyle/>
          <a:p>
            <a:pPr indent="0" marL="0">
              <a:buNone/>
            </a:pPr>
            <a:r>
              <a:rPr lang="en-US" sz="1800" b="1" dirty="0">
                <a:solidFill>
                  <a:schemeClr val="tx2"/>
                </a:solidFill>
              </a:rPr>
              <a:t>Library algorithms</a:t>
            </a:r>
            <a:endParaRPr lang="en-US" sz="1800" dirty="0"/>
          </a:p>
        </p:txBody>
      </p:sp>
      <p:sp>
        <p:nvSpPr>
          <p:cNvPr id="12" name="Text 8"/>
          <p:cNvSpPr txBox="1"/>
          <p:nvPr/>
        </p:nvSpPr>
        <p:spPr>
          <a:xfrm>
            <a:off x="3429000" y="2468880"/>
            <a:ext cx="2331720" cy="1965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Collections.sort with Comparable</a:t>
            </a:r>
            <a:endParaRPr lang="en-US" sz="1400" dirty="0"/>
          </a:p>
          <a:p>
            <a:pPr marL="342900" indent="-342900">
              <a:spcAft>
                <a:spcPts val="600"/>
              </a:spcAft>
              <a:buSzPct val="100000"/>
              <a:buChar char="•"/>
            </a:pPr>
            <a:r>
              <a:rPr lang="en-US" sz="1400" dirty="0">
                <a:solidFill>
                  <a:schemeClr val="tx1"/>
                </a:solidFill>
              </a:rPr>
              <a:t>Comparator by name or credits</a:t>
            </a:r>
            <a:endParaRPr lang="en-US" sz="1400" dirty="0"/>
          </a:p>
          <a:p>
            <a:pPr marL="342900" indent="-342900">
              <a:spcAft>
                <a:spcPts val="600"/>
              </a:spcAft>
              <a:buSzPct val="100000"/>
              <a:buChar char="•"/>
            </a:pPr>
            <a:r>
              <a:rPr lang="en-US" sz="1400" dirty="0">
                <a:solidFill>
                  <a:schemeClr val="tx1"/>
                </a:solidFill>
              </a:rPr>
              <a:t>reversed() for high to low</a:t>
            </a:r>
            <a:endParaRPr lang="en-US" sz="1400" dirty="0"/>
          </a:p>
          <a:p>
            <a:pPr marL="342900" indent="-342900">
              <a:spcAft>
                <a:spcPts val="600"/>
              </a:spcAft>
              <a:buSzPct val="100000"/>
              <a:buChar char="•"/>
            </a:pPr>
            <a:r>
              <a:rPr lang="en-US" sz="1400" dirty="0">
                <a:solidFill>
                  <a:schemeClr val="tx1"/>
                </a:solidFill>
              </a:rPr>
              <a:t>Search by ID and by name</a:t>
            </a:r>
            <a:endParaRPr lang="en-US" sz="1400" dirty="0"/>
          </a:p>
        </p:txBody>
      </p:sp>
      <p:sp>
        <p:nvSpPr>
          <p:cNvPr id="13" name="card-76"/>
          <p:cNvSpPr/>
          <p:nvPr/>
        </p:nvSpPr>
        <p:spPr>
          <a:xfrm>
            <a:off x="6035040" y="1188720"/>
            <a:ext cx="2651760" cy="3337560"/>
          </a:xfrm>
          <a:prstGeom prst="roundRect">
            <a:avLst>
              <a:gd name="adj" fmla="val 2759"/>
            </a:avLst>
          </a:prstGeom>
          <a:solidFill>
            <a:schemeClr val="bg2"/>
          </a:solidFill>
          <a:ln w="12700">
            <a:solidFill>
              <a:schemeClr val="bg2"/>
            </a:solidFill>
            <a:prstDash val="solid"/>
          </a:ln>
        </p:spPr>
      </p:sp>
      <p:sp>
        <p:nvSpPr>
          <p:cNvPr id="14" name="icon-bg-77"/>
          <p:cNvSpPr/>
          <p:nvPr/>
        </p:nvSpPr>
        <p:spPr>
          <a:xfrm>
            <a:off x="6217920" y="1325880"/>
            <a:ext cx="594360" cy="594360"/>
          </a:xfrm>
          <a:prstGeom prst="ellipse">
            <a:avLst/>
          </a:prstGeom>
          <a:solidFill>
            <a:schemeClr val="accent1"/>
          </a:solidFill>
          <a:ln w="12700">
            <a:solidFill>
              <a:schemeClr val="accent1"/>
            </a:solidFill>
            <a:prstDash val="solid"/>
          </a:ln>
        </p:spPr>
      </p:sp>
      <p:pic>
        <p:nvPicPr>
          <p:cNvPr id="15" name="Image 2" descr="FaSave">    </p:cNvPr>
          <p:cNvPicPr>
            <a:picLocks noChangeAspect="1"/>
          </p:cNvPicPr>
          <p:nvPr/>
        </p:nvPicPr>
        <p:blipFill>
          <a:blip r:embed="rId3"/>
          <a:stretch>
            <a:fillRect/>
          </a:stretch>
        </p:blipFill>
        <p:spPr>
          <a:xfrm>
            <a:off x="6366510" y="1474470"/>
            <a:ext cx="297180" cy="297180"/>
          </a:xfrm>
          <a:prstGeom prst="rect">
            <a:avLst/>
          </a:prstGeom>
        </p:spPr>
      </p:pic>
      <p:sp>
        <p:nvSpPr>
          <p:cNvPr id="16" name="Text 11"/>
          <p:cNvSpPr txBox="1"/>
          <p:nvPr/>
        </p:nvSpPr>
        <p:spPr>
          <a:xfrm>
            <a:off x="6217920" y="2011680"/>
            <a:ext cx="2286000" cy="365760"/>
          </a:xfrm>
          <a:prstGeom prst="rect">
            <a:avLst/>
          </a:prstGeom>
          <a:noFill/>
          <a:ln/>
        </p:spPr>
        <p:txBody>
          <a:bodyPr wrap="square" lIns="0" tIns="0" rIns="0" bIns="0" rtlCol="0" anchor="ctr"/>
          <a:lstStyle/>
          <a:p>
            <a:pPr indent="0" marL="0">
              <a:buNone/>
            </a:pPr>
            <a:r>
              <a:rPr lang="en-US" sz="1800" b="1" dirty="0">
                <a:solidFill>
                  <a:schemeClr val="tx2"/>
                </a:solidFill>
              </a:rPr>
              <a:t>File handling</a:t>
            </a:r>
            <a:endParaRPr lang="en-US" sz="1800" dirty="0"/>
          </a:p>
        </p:txBody>
      </p:sp>
      <p:sp>
        <p:nvSpPr>
          <p:cNvPr id="17" name="Text 12"/>
          <p:cNvSpPr txBox="1"/>
          <p:nvPr/>
        </p:nvSpPr>
        <p:spPr>
          <a:xfrm>
            <a:off x="6217920" y="2468880"/>
            <a:ext cx="2331720" cy="1965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Files.writeString saves courses</a:t>
            </a:r>
            <a:endParaRPr lang="en-US" sz="1400" dirty="0"/>
          </a:p>
          <a:p>
            <a:pPr marL="342900" indent="-342900">
              <a:spcAft>
                <a:spcPts val="600"/>
              </a:spcAft>
              <a:buSzPct val="100000"/>
              <a:buChar char="•"/>
            </a:pPr>
            <a:r>
              <a:rPr lang="en-US" sz="1400" dirty="0">
                <a:solidFill>
                  <a:schemeClr val="tx1"/>
                </a:solidFill>
              </a:rPr>
              <a:t>Files.readAllLines loads them</a:t>
            </a:r>
            <a:endParaRPr lang="en-US" sz="1400" dirty="0"/>
          </a:p>
          <a:p>
            <a:pPr marL="342900" indent="-342900">
              <a:spcAft>
                <a:spcPts val="600"/>
              </a:spcAft>
              <a:buSzPct val="100000"/>
              <a:buChar char="•"/>
            </a:pPr>
            <a:r>
              <a:rPr lang="en-US" sz="1400" dirty="0">
                <a:solidFill>
                  <a:schemeClr val="tx1"/>
                </a:solidFill>
              </a:rPr>
              <a:t>Bad lines are skipped</a:t>
            </a:r>
            <a:endParaRPr lang="en-US" sz="1400" dirty="0"/>
          </a:p>
          <a:p>
            <a:pPr marL="342900" indent="-342900">
              <a:spcAft>
                <a:spcPts val="600"/>
              </a:spcAft>
              <a:buSzPct val="100000"/>
              <a:buChar char="•"/>
            </a:pPr>
            <a:r>
              <a:rPr lang="en-US" sz="1400" dirty="0">
                <a:solidFill>
                  <a:schemeClr val="tx1"/>
                </a:solidFill>
              </a:rPr>
              <a:t>Missing file is handled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CO6: collections and streams</a:t>
            </a:r>
            <a:endParaRPr lang="en-US" sz="3200" dirty="0"/>
          </a:p>
        </p:txBody>
      </p:sp>
      <p:sp>
        <p:nvSpPr>
          <p:cNvPr id="3" name="code-bg-78"/>
          <p:cNvSpPr/>
          <p:nvPr/>
        </p:nvSpPr>
        <p:spPr>
          <a:xfrm>
            <a:off x="457200" y="1188720"/>
            <a:ext cx="4572000" cy="1463040"/>
          </a:xfrm>
          <a:prstGeom prst="roundRect">
            <a:avLst>
              <a:gd name="adj" fmla="val 5000"/>
            </a:avLst>
          </a:prstGeom>
          <a:solidFill>
            <a:schemeClr val="accent6"/>
          </a:solidFill>
          <a:ln w="12700">
            <a:solidFill>
              <a:schemeClr val="accent6"/>
            </a:solidFill>
            <a:prstDash val="solid"/>
          </a:ln>
        </p:spPr>
      </p:sp>
      <p:sp>
        <p:nvSpPr>
          <p:cNvPr id="4" name="code-79"/>
          <p:cNvSpPr txBox="1"/>
          <p:nvPr/>
        </p:nvSpPr>
        <p:spPr>
          <a:xfrm>
            <a:off x="594360" y="1280160"/>
            <a:ext cx="4297680" cy="128016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Predicate&lt;Course&gt; heavy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 -&gt; c.getCredits() &gt;= 3;</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courses.stream().filter(heavy)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.map(Course::getName).sorted()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.collect(Collectors.joining(", "));</a:t>
            </a:r>
            <a:endParaRPr lang="en-US" sz="1200" dirty="0"/>
          </a:p>
        </p:txBody>
      </p:sp>
      <p:sp>
        <p:nvSpPr>
          <p:cNvPr id="5" name="code-bg-80"/>
          <p:cNvSpPr/>
          <p:nvPr/>
        </p:nvSpPr>
        <p:spPr>
          <a:xfrm>
            <a:off x="457200" y="2834640"/>
            <a:ext cx="4572000" cy="777240"/>
          </a:xfrm>
          <a:prstGeom prst="roundRect">
            <a:avLst>
              <a:gd name="adj" fmla="val 9412"/>
            </a:avLst>
          </a:prstGeom>
          <a:solidFill>
            <a:schemeClr val="accent6"/>
          </a:solidFill>
          <a:ln w="12700">
            <a:solidFill>
              <a:schemeClr val="accent6"/>
            </a:solidFill>
            <a:prstDash val="solid"/>
          </a:ln>
        </p:spPr>
      </p:sp>
      <p:sp>
        <p:nvSpPr>
          <p:cNvPr id="6" name="code-81"/>
          <p:cNvSpPr txBox="1"/>
          <p:nvPr/>
        </p:nvSpPr>
        <p:spPr>
          <a:xfrm>
            <a:off x="594360" y="2926080"/>
            <a:ext cx="4297680" cy="59436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Optional&lt;Course&gt; found = find(courses, 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if (found.isEmpty()) ...   // no null checks</a:t>
            </a:r>
            <a:endParaRPr lang="en-US" sz="1200" dirty="0"/>
          </a:p>
        </p:txBody>
      </p:sp>
      <p:sp>
        <p:nvSpPr>
          <p:cNvPr id="7" name="card-82"/>
          <p:cNvSpPr/>
          <p:nvPr/>
        </p:nvSpPr>
        <p:spPr>
          <a:xfrm>
            <a:off x="457200" y="3749040"/>
            <a:ext cx="4572000" cy="777240"/>
          </a:xfrm>
          <a:prstGeom prst="roundRect">
            <a:avLst>
              <a:gd name="adj" fmla="val 9412"/>
            </a:avLst>
          </a:prstGeom>
          <a:solidFill>
            <a:schemeClr val="bg2"/>
          </a:solidFill>
          <a:ln w="12700">
            <a:solidFill>
              <a:schemeClr val="bg2"/>
            </a:solidFill>
            <a:prstDash val="solid"/>
          </a:ln>
        </p:spPr>
      </p:sp>
      <p:sp>
        <p:nvSpPr>
          <p:cNvPr id="8" name="Text 6"/>
          <p:cNvSpPr txBox="1"/>
          <p:nvPr/>
        </p:nvSpPr>
        <p:spPr>
          <a:xfrm>
            <a:off x="640080" y="3749040"/>
            <a:ext cx="4206240" cy="777240"/>
          </a:xfrm>
          <a:prstGeom prst="rect">
            <a:avLst/>
          </a:prstGeom>
          <a:noFill/>
          <a:ln/>
        </p:spPr>
        <p:txBody>
          <a:bodyPr wrap="square" lIns="0" tIns="0" rIns="0" bIns="0" rtlCol="0" anchor="ctr"/>
          <a:lstStyle/>
          <a:p>
            <a:pPr indent="0" marL="0">
              <a:buNone/>
            </a:pPr>
            <a:r>
              <a:rPr lang="en-US" sz="1400" dirty="0">
                <a:solidFill>
                  <a:schemeClr val="tx1"/>
                </a:solidFill>
              </a:rPr>
              <a:t>Streams replace loops with steps: filter, map, sort, join.</a:t>
            </a:r>
            <a:endParaRPr lang="en-US" sz="1400" dirty="0"/>
          </a:p>
        </p:txBody>
      </p:sp>
      <p:sp>
        <p:nvSpPr>
          <p:cNvPr id="9" name="card-83"/>
          <p:cNvSpPr/>
          <p:nvPr/>
        </p:nvSpPr>
        <p:spPr>
          <a:xfrm>
            <a:off x="5212080" y="1188720"/>
            <a:ext cx="3474720" cy="3337560"/>
          </a:xfrm>
          <a:prstGeom prst="roundRect">
            <a:avLst>
              <a:gd name="adj" fmla="val 2192"/>
            </a:avLst>
          </a:prstGeom>
          <a:solidFill>
            <a:schemeClr val="bg2"/>
          </a:solidFill>
          <a:ln w="12700">
            <a:solidFill>
              <a:schemeClr val="bg2"/>
            </a:solidFill>
            <a:prstDash val="solid"/>
          </a:ln>
        </p:spPr>
      </p:sp>
      <p:sp>
        <p:nvSpPr>
          <p:cNvPr id="10" name="Text 8"/>
          <p:cNvSpPr txBox="1"/>
          <p:nvPr/>
        </p:nvSpPr>
        <p:spPr>
          <a:xfrm>
            <a:off x="5394960" y="1280160"/>
            <a:ext cx="3108960" cy="365760"/>
          </a:xfrm>
          <a:prstGeom prst="rect">
            <a:avLst/>
          </a:prstGeom>
          <a:noFill/>
          <a:ln/>
        </p:spPr>
        <p:txBody>
          <a:bodyPr wrap="square" lIns="0" tIns="0" rIns="0" bIns="0" rtlCol="0" anchor="ctr"/>
          <a:lstStyle/>
          <a:p>
            <a:pPr indent="0" marL="0">
              <a:buNone/>
            </a:pPr>
            <a:r>
              <a:rPr lang="en-US" sz="1800" b="1" dirty="0">
                <a:solidFill>
                  <a:schemeClr val="tx2"/>
                </a:solidFill>
              </a:rPr>
              <a:t>What we used</a:t>
            </a:r>
            <a:endParaRPr lang="en-US" sz="1800" dirty="0"/>
          </a:p>
        </p:txBody>
      </p:sp>
      <p:sp>
        <p:nvSpPr>
          <p:cNvPr id="11" name="Text 9"/>
          <p:cNvSpPr txBox="1"/>
          <p:nvPr/>
        </p:nvSpPr>
        <p:spPr>
          <a:xfrm>
            <a:off x="5394960" y="1737360"/>
            <a:ext cx="3108960" cy="2697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ArrayList&lt;Course&gt; with generics</a:t>
            </a:r>
            <a:endParaRPr lang="en-US" sz="1400" dirty="0"/>
          </a:p>
          <a:p>
            <a:pPr marL="342900" indent="-342900">
              <a:spcAft>
                <a:spcPts val="600"/>
              </a:spcAft>
              <a:buSzPct val="100000"/>
              <a:buChar char="•"/>
            </a:pPr>
            <a:r>
              <a:rPr lang="en-US" sz="1400" dirty="0">
                <a:solidFill>
                  <a:schemeClr val="tx1"/>
                </a:solidFill>
              </a:rPr>
              <a:t>Map with groupingBy and counting</a:t>
            </a:r>
            <a:endParaRPr lang="en-US" sz="1400" dirty="0"/>
          </a:p>
          <a:p>
            <a:pPr marL="342900" indent="-342900">
              <a:spcAft>
                <a:spcPts val="600"/>
              </a:spcAft>
              <a:buSzPct val="100000"/>
              <a:buChar char="•"/>
            </a:pPr>
            <a:r>
              <a:rPr lang="en-US" sz="1400" dirty="0">
                <a:solidFill>
                  <a:schemeClr val="tx1"/>
                </a:solidFill>
              </a:rPr>
              <a:t>TreeSet of credit values</a:t>
            </a:r>
            <a:endParaRPr lang="en-US" sz="1400" dirty="0"/>
          </a:p>
          <a:p>
            <a:pPr marL="342900" indent="-342900">
              <a:spcAft>
                <a:spcPts val="600"/>
              </a:spcAft>
              <a:buSzPct val="100000"/>
              <a:buChar char="•"/>
            </a:pPr>
            <a:r>
              <a:rPr lang="en-US" sz="1400" dirty="0">
                <a:solidFill>
                  <a:schemeClr val="tx1"/>
                </a:solidFill>
              </a:rPr>
              <a:t>Lambda and Predicate</a:t>
            </a:r>
            <a:endParaRPr lang="en-US" sz="1400" dirty="0"/>
          </a:p>
          <a:p>
            <a:pPr marL="342900" indent="-342900">
              <a:spcAft>
                <a:spcPts val="600"/>
              </a:spcAft>
              <a:buSzPct val="100000"/>
              <a:buChar char="•"/>
            </a:pPr>
            <a:r>
              <a:rPr lang="en-US" sz="1400" dirty="0">
                <a:solidFill>
                  <a:schemeClr val="tx1"/>
                </a:solidFill>
              </a:rPr>
              <a:t>Method references (Course::getName)</a:t>
            </a:r>
            <a:endParaRPr lang="en-US" sz="1400" dirty="0"/>
          </a:p>
          <a:p>
            <a:pPr marL="342900" indent="-342900">
              <a:spcAft>
                <a:spcPts val="600"/>
              </a:spcAft>
              <a:buSzPct val="100000"/>
              <a:buChar char="•"/>
            </a:pPr>
            <a:r>
              <a:rPr lang="en-US" sz="1400" dirty="0">
                <a:solidFill>
                  <a:schemeClr val="tx1"/>
                </a:solidFill>
              </a:rPr>
              <a:t>Collectors.joining, count, sum</a:t>
            </a:r>
            <a:endParaRPr lang="en-US" sz="1400" dirty="0"/>
          </a:p>
          <a:p>
            <a:pPr marL="342900" indent="-342900">
              <a:spcAft>
                <a:spcPts val="600"/>
              </a:spcAft>
              <a:buSzPct val="100000"/>
              <a:buChar char="•"/>
            </a:pPr>
            <a:r>
              <a:rPr lang="en-US" sz="1400" dirty="0">
                <a:solidFill>
                  <a:schemeClr val="tx1"/>
                </a:solidFill>
              </a:rPr>
              <a:t>Optional for safe searching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Live demo</a:t>
            </a:r>
            <a:endParaRPr lang="en-US" sz="3200" dirty="0"/>
          </a:p>
        </p:txBody>
      </p:sp>
      <p:sp>
        <p:nvSpPr>
          <p:cNvPr id="3" name="card-84"/>
          <p:cNvSpPr/>
          <p:nvPr/>
        </p:nvSpPr>
        <p:spPr>
          <a:xfrm>
            <a:off x="457200" y="1188720"/>
            <a:ext cx="3566160" cy="3337560"/>
          </a:xfrm>
          <a:prstGeom prst="roundRect">
            <a:avLst>
              <a:gd name="adj" fmla="val 2192"/>
            </a:avLst>
          </a:prstGeom>
          <a:solidFill>
            <a:schemeClr val="bg2"/>
          </a:solidFill>
          <a:ln w="12700">
            <a:solidFill>
              <a:schemeClr val="bg2"/>
            </a:solidFill>
            <a:prstDash val="solid"/>
          </a:ln>
        </p:spPr>
      </p:sp>
      <p:sp>
        <p:nvSpPr>
          <p:cNvPr id="4" name="Text 2"/>
          <p:cNvSpPr txBox="1"/>
          <p:nvPr/>
        </p:nvSpPr>
        <p:spPr>
          <a:xfrm>
            <a:off x="640080" y="1280160"/>
            <a:ext cx="3200400" cy="365760"/>
          </a:xfrm>
          <a:prstGeom prst="rect">
            <a:avLst/>
          </a:prstGeom>
          <a:noFill/>
          <a:ln/>
        </p:spPr>
        <p:txBody>
          <a:bodyPr wrap="square" lIns="0" tIns="0" rIns="0" bIns="0" rtlCol="0" anchor="ctr"/>
          <a:lstStyle/>
          <a:p>
            <a:pPr indent="0" marL="0">
              <a:buNone/>
            </a:pPr>
            <a:r>
              <a:rPr lang="en-US" sz="1800" b="1" dirty="0">
                <a:solidFill>
                  <a:schemeClr val="tx2"/>
                </a:solidFill>
              </a:rPr>
              <a:t>Menu steps</a:t>
            </a:r>
            <a:endParaRPr lang="en-US" sz="1800" dirty="0"/>
          </a:p>
        </p:txBody>
      </p:sp>
      <p:sp>
        <p:nvSpPr>
          <p:cNvPr id="5" name="num-85"/>
          <p:cNvSpPr/>
          <p:nvPr/>
        </p:nvSpPr>
        <p:spPr>
          <a:xfrm>
            <a:off x="640080" y="1783080"/>
            <a:ext cx="411480" cy="411480"/>
          </a:xfrm>
          <a:prstGeom prst="ellipse">
            <a:avLst/>
          </a:prstGeom>
          <a:solidFill>
            <a:schemeClr val="accent1"/>
          </a:solidFill>
          <a:ln w="12700">
            <a:solidFill>
              <a:schemeClr val="accent1"/>
            </a:solidFill>
            <a:prstDash val="solid"/>
          </a:ln>
        </p:spPr>
      </p:sp>
      <p:sp>
        <p:nvSpPr>
          <p:cNvPr id="6" name="Text 4"/>
          <p:cNvSpPr txBox="1"/>
          <p:nvPr/>
        </p:nvSpPr>
        <p:spPr>
          <a:xfrm>
            <a:off x="640080" y="178308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7" name="Text 5"/>
          <p:cNvSpPr txBox="1"/>
          <p:nvPr/>
        </p:nvSpPr>
        <p:spPr>
          <a:xfrm>
            <a:off x="1188720" y="1783080"/>
            <a:ext cx="2651760" cy="411480"/>
          </a:xfrm>
          <a:prstGeom prst="rect">
            <a:avLst/>
          </a:prstGeom>
          <a:noFill/>
          <a:ln/>
        </p:spPr>
        <p:txBody>
          <a:bodyPr wrap="square" lIns="0" tIns="0" rIns="0" bIns="0" rtlCol="0" anchor="ctr"/>
          <a:lstStyle/>
          <a:p>
            <a:pPr indent="0" marL="0">
              <a:buNone/>
            </a:pPr>
            <a:r>
              <a:rPr lang="en-US" sz="1400" dirty="0">
                <a:solidFill>
                  <a:schemeClr val="tx1"/>
                </a:solidFill>
              </a:rPr>
              <a:t>Load sample data</a:t>
            </a:r>
            <a:endParaRPr lang="en-US" sz="1400" dirty="0"/>
          </a:p>
        </p:txBody>
      </p:sp>
      <p:sp>
        <p:nvSpPr>
          <p:cNvPr id="8" name="num-86"/>
          <p:cNvSpPr/>
          <p:nvPr/>
        </p:nvSpPr>
        <p:spPr>
          <a:xfrm>
            <a:off x="640080" y="2313432"/>
            <a:ext cx="411480" cy="411480"/>
          </a:xfrm>
          <a:prstGeom prst="ellipse">
            <a:avLst/>
          </a:prstGeom>
          <a:solidFill>
            <a:schemeClr val="accent1"/>
          </a:solidFill>
          <a:ln w="12700">
            <a:solidFill>
              <a:schemeClr val="accent1"/>
            </a:solidFill>
            <a:prstDash val="solid"/>
          </a:ln>
        </p:spPr>
      </p:sp>
      <p:sp>
        <p:nvSpPr>
          <p:cNvPr id="9" name="Text 7"/>
          <p:cNvSpPr txBox="1"/>
          <p:nvPr/>
        </p:nvSpPr>
        <p:spPr>
          <a:xfrm>
            <a:off x="640080" y="2313432"/>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0" name="Text 8"/>
          <p:cNvSpPr txBox="1"/>
          <p:nvPr/>
        </p:nvSpPr>
        <p:spPr>
          <a:xfrm>
            <a:off x="1188720" y="2313432"/>
            <a:ext cx="2651760" cy="411480"/>
          </a:xfrm>
          <a:prstGeom prst="rect">
            <a:avLst/>
          </a:prstGeom>
          <a:noFill/>
          <a:ln/>
        </p:spPr>
        <p:txBody>
          <a:bodyPr wrap="square" lIns="0" tIns="0" rIns="0" bIns="0" rtlCol="0" anchor="ctr"/>
          <a:lstStyle/>
          <a:p>
            <a:pPr indent="0" marL="0">
              <a:buNone/>
            </a:pPr>
            <a:r>
              <a:rPr lang="en-US" sz="1400" dirty="0">
                <a:solidFill>
                  <a:schemeClr val="tx1"/>
                </a:solidFill>
              </a:rPr>
              <a:t>Register CS101</a:t>
            </a:r>
            <a:endParaRPr lang="en-US" sz="1400" dirty="0"/>
          </a:p>
        </p:txBody>
      </p:sp>
      <p:sp>
        <p:nvSpPr>
          <p:cNvPr id="11" name="num-87"/>
          <p:cNvSpPr/>
          <p:nvPr/>
        </p:nvSpPr>
        <p:spPr>
          <a:xfrm>
            <a:off x="640080" y="2843784"/>
            <a:ext cx="411480" cy="411480"/>
          </a:xfrm>
          <a:prstGeom prst="ellipse">
            <a:avLst/>
          </a:prstGeom>
          <a:solidFill>
            <a:schemeClr val="accent1"/>
          </a:solidFill>
          <a:ln w="12700">
            <a:solidFill>
              <a:schemeClr val="accent1"/>
            </a:solidFill>
            <a:prstDash val="solid"/>
          </a:ln>
        </p:spPr>
      </p:sp>
      <p:sp>
        <p:nvSpPr>
          <p:cNvPr id="12" name="Text 10"/>
          <p:cNvSpPr txBox="1"/>
          <p:nvPr/>
        </p:nvSpPr>
        <p:spPr>
          <a:xfrm>
            <a:off x="640080" y="2843784"/>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Text 11"/>
          <p:cNvSpPr txBox="1"/>
          <p:nvPr/>
        </p:nvSpPr>
        <p:spPr>
          <a:xfrm>
            <a:off x="1188720" y="2843784"/>
            <a:ext cx="2651760" cy="411480"/>
          </a:xfrm>
          <a:prstGeom prst="rect">
            <a:avLst/>
          </a:prstGeom>
          <a:noFill/>
          <a:ln/>
        </p:spPr>
        <p:txBody>
          <a:bodyPr wrap="square" lIns="0" tIns="0" rIns="0" bIns="0" rtlCol="0" anchor="ctr"/>
          <a:lstStyle/>
          <a:p>
            <a:pPr indent="0" marL="0">
              <a:buNone/>
            </a:pPr>
            <a:r>
              <a:rPr lang="en-US" sz="1400" dirty="0">
                <a:solidFill>
                  <a:schemeClr val="tx1"/>
                </a:solidFill>
              </a:rPr>
              <a:t>Register CS103 (clash)</a:t>
            </a:r>
            <a:endParaRPr lang="en-US" sz="1400" dirty="0"/>
          </a:p>
        </p:txBody>
      </p:sp>
      <p:sp>
        <p:nvSpPr>
          <p:cNvPr id="14" name="num-88"/>
          <p:cNvSpPr/>
          <p:nvPr/>
        </p:nvSpPr>
        <p:spPr>
          <a:xfrm>
            <a:off x="640080" y="3374136"/>
            <a:ext cx="411480" cy="411480"/>
          </a:xfrm>
          <a:prstGeom prst="ellipse">
            <a:avLst/>
          </a:prstGeom>
          <a:solidFill>
            <a:schemeClr val="accent1"/>
          </a:solidFill>
          <a:ln w="12700">
            <a:solidFill>
              <a:schemeClr val="accent1"/>
            </a:solidFill>
            <a:prstDash val="solid"/>
          </a:ln>
        </p:spPr>
      </p:sp>
      <p:sp>
        <p:nvSpPr>
          <p:cNvPr id="15" name="Text 13"/>
          <p:cNvSpPr txBox="1"/>
          <p:nvPr/>
        </p:nvSpPr>
        <p:spPr>
          <a:xfrm>
            <a:off x="640080" y="3374136"/>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6" name="Text 14"/>
          <p:cNvSpPr txBox="1"/>
          <p:nvPr/>
        </p:nvSpPr>
        <p:spPr>
          <a:xfrm>
            <a:off x="1188720" y="3374136"/>
            <a:ext cx="2651760" cy="411480"/>
          </a:xfrm>
          <a:prstGeom prst="rect">
            <a:avLst/>
          </a:prstGeom>
          <a:noFill/>
          <a:ln/>
        </p:spPr>
        <p:txBody>
          <a:bodyPr wrap="square" lIns="0" tIns="0" rIns="0" bIns="0" rtlCol="0" anchor="ctr"/>
          <a:lstStyle/>
          <a:p>
            <a:pPr indent="0" marL="0">
              <a:buNone/>
            </a:pPr>
            <a:r>
              <a:rPr lang="en-US" sz="1400" dirty="0">
                <a:solidFill>
                  <a:schemeClr val="tx1"/>
                </a:solidFill>
              </a:rPr>
              <a:t>View the timetable</a:t>
            </a:r>
            <a:endParaRPr lang="en-US" sz="1400" dirty="0"/>
          </a:p>
        </p:txBody>
      </p:sp>
      <p:sp>
        <p:nvSpPr>
          <p:cNvPr id="17" name="num-89"/>
          <p:cNvSpPr/>
          <p:nvPr/>
        </p:nvSpPr>
        <p:spPr>
          <a:xfrm>
            <a:off x="640080" y="3904488"/>
            <a:ext cx="411480" cy="411480"/>
          </a:xfrm>
          <a:prstGeom prst="ellipse">
            <a:avLst/>
          </a:prstGeom>
          <a:solidFill>
            <a:schemeClr val="accent1"/>
          </a:solidFill>
          <a:ln w="12700">
            <a:solidFill>
              <a:schemeClr val="accent1"/>
            </a:solidFill>
            <a:prstDash val="solid"/>
          </a:ln>
        </p:spPr>
      </p:sp>
      <p:sp>
        <p:nvSpPr>
          <p:cNvPr id="18" name="Text 16"/>
          <p:cNvSpPr txBox="1"/>
          <p:nvPr/>
        </p:nvSpPr>
        <p:spPr>
          <a:xfrm>
            <a:off x="640080" y="3904488"/>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19" name="Text 17"/>
          <p:cNvSpPr txBox="1"/>
          <p:nvPr/>
        </p:nvSpPr>
        <p:spPr>
          <a:xfrm>
            <a:off x="1188720" y="3904488"/>
            <a:ext cx="2651760" cy="411480"/>
          </a:xfrm>
          <a:prstGeom prst="rect">
            <a:avLst/>
          </a:prstGeom>
          <a:noFill/>
          <a:ln/>
        </p:spPr>
        <p:txBody>
          <a:bodyPr wrap="square" lIns="0" tIns="0" rIns="0" bIns="0" rtlCol="0" anchor="ctr"/>
          <a:lstStyle/>
          <a:p>
            <a:pPr indent="0" marL="0">
              <a:buNone/>
            </a:pPr>
            <a:r>
              <a:rPr lang="en-US" sz="1400" dirty="0">
                <a:solidFill>
                  <a:schemeClr val="tx1"/>
                </a:solidFill>
              </a:rPr>
              <a:t>Run the reports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pic>
        <p:nvPicPr>
          <p:cNvPr id="26" name="Picture 25" descr="CourseRegistration_Output_Screenshot.png"/>
          <p:cNvPicPr>
            <a:picLocks noChangeAspect="1"/>
          </p:cNvPicPr>
          <p:nvPr/>
        </p:nvPicPr>
        <p:blipFill>
          <a:blip r:embed="rId3"/>
          <a:stretch>
            <a:fillRect/>
          </a:stretch>
        </p:blipFill>
        <p:spPr>
          <a:xfrm>
            <a:off x="4160520" y="1143000"/>
            <a:ext cx="4526280" cy="33375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Where each CO is in the code</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731520"/>
                <a:gridCol w="4206240"/>
                <a:gridCol w="3291840"/>
              </a:tblGrid>
              <a:tr h="457200">
                <a:tc>
                  <a:txBody>
                    <a:bodyPr/>
                    <a:lstStyle/>
                    <a:p>
                      <a:pPr indent="0" marL="0">
                        <a:buNone/>
                      </a:pPr>
                      <a:r>
                        <a:rPr lang="en-US" sz="1200" b="1" dirty="0">
                          <a:solidFill>
                            <a:schemeClr val="bg1"/>
                          </a:solidFill>
                        </a:rPr>
                        <a:t>CO</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Topics</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Where in the code</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solidFill>
                      <a:schemeClr val="accent1"/>
                    </a:solidFill>
                  </a:tcPr>
                </a:tc>
              </a:tr>
              <a:tr h="457200">
                <a:tc>
                  <a:txBody>
                    <a:bodyPr/>
                    <a:lstStyle/>
                    <a:p>
                      <a:pPr indent="0" marL="0">
                        <a:buNone/>
                      </a:pPr>
                      <a:r>
                        <a:rPr lang="en-US" sz="1200" b="1" dirty="0">
                          <a:solidFill>
                            <a:schemeClr val="tx1"/>
                          </a:solidFill>
                        </a:rPr>
                        <a:t>CO1</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c>
                  <a:txBody>
                    <a:bodyPr/>
                    <a:lstStyle/>
                    <a:p>
                      <a:pPr indent="0" marL="0">
                        <a:buNone/>
                      </a:pPr>
                      <a:r>
                        <a:rPr lang="en-US" sz="1200" dirty="0">
                          <a:solidFill>
                            <a:schemeClr val="tx1"/>
                          </a:solidFill>
                        </a:rPr>
                        <a:t>Algorithm, data types, expressions, Scanner I/O</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c>
                  <a:txBody>
                    <a:bodyPr/>
                    <a:lstStyle/>
                    <a:p>
                      <a:pPr indent="0" marL="0">
                        <a:buNone/>
                      </a:pPr>
                      <a:r>
                        <a:rPr lang="en-US" sz="1200" dirty="0">
                          <a:solidFill>
                            <a:schemeClr val="tx1"/>
                          </a:solidFill>
                        </a:rPr>
                        <a:t>readInt(), main(), README algorithm</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r>
              <a:tr h="457200">
                <a:tc>
                  <a:txBody>
                    <a:bodyPr/>
                    <a:lstStyle/>
                    <a:p>
                      <a:pPr indent="0" marL="0">
                        <a:buNone/>
                      </a:pPr>
                      <a:r>
                        <a:rPr lang="en-US" sz="1200" b="1" dirty="0">
                          <a:solidFill>
                            <a:schemeClr val="tx1"/>
                          </a:solidFill>
                        </a:rPr>
                        <a:t>CO2</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c>
                  <a:txBody>
                    <a:bodyPr/>
                    <a:lstStyle/>
                    <a:p>
                      <a:pPr indent="0" marL="0">
                        <a:buNone/>
                      </a:pPr>
                      <a:r>
                        <a:rPr lang="en-US" sz="1200" dirty="0">
                          <a:solidFill>
                            <a:schemeClr val="tx1"/>
                          </a:solidFill>
                        </a:rPr>
                        <a:t>if-else, switch, do-while, for, while</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c>
                  <a:txBody>
                    <a:bodyPr/>
                    <a:lstStyle/>
                    <a:p>
                      <a:pPr indent="0" marL="0">
                        <a:buNone/>
                      </a:pPr>
                      <a:r>
                        <a:rPr lang="en-US" sz="1200" dirty="0">
                          <a:solidFill>
                            <a:schemeClr val="tx1"/>
                          </a:solidFill>
                        </a:rPr>
                        <a:t>main(), register(), showTimetable()</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r>
              <a:tr h="457200">
                <a:tc>
                  <a:txBody>
                    <a:bodyPr/>
                    <a:lstStyle/>
                    <a:p>
                      <a:pPr indent="0" marL="0">
                        <a:buNone/>
                      </a:pPr>
                      <a:r>
                        <a:rPr lang="en-US" sz="1200" b="1" dirty="0">
                          <a:solidFill>
                            <a:schemeClr val="tx1"/>
                          </a:solidFill>
                        </a:rPr>
                        <a:t>CO3</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c>
                  <a:txBody>
                    <a:bodyPr/>
                    <a:lstStyle/>
                    <a:p>
                      <a:pPr indent="0" marL="0">
                        <a:buNone/>
                      </a:pPr>
                      <a:r>
                        <a:rPr lang="en-US" sz="1200" dirty="0">
                          <a:solidFill>
                            <a:schemeClr val="tx1"/>
                          </a:solidFill>
                        </a:rPr>
                        <a:t>Methods, recursion, 1-D and 2-D arrays</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c>
                  <a:txBody>
                    <a:bodyPr/>
                    <a:lstStyle/>
                    <a:p>
                      <a:pPr indent="0" marL="0">
                        <a:buNone/>
                      </a:pPr>
                      <a:r>
                        <a:rPr lang="en-US" sz="1200" dirty="0">
                          <a:solidFill>
                            <a:schemeClr val="tx1"/>
                          </a:solidFill>
                        </a:rPr>
                        <a:t>totalCredits(), DAYS, timetable</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r>
              <a:tr h="457200">
                <a:tc>
                  <a:txBody>
                    <a:bodyPr/>
                    <a:lstStyle/>
                    <a:p>
                      <a:pPr indent="0" marL="0">
                        <a:buNone/>
                      </a:pPr>
                      <a:r>
                        <a:rPr lang="en-US" sz="1200" b="1" dirty="0">
                          <a:solidFill>
                            <a:schemeClr val="tx1"/>
                          </a:solidFill>
                        </a:rPr>
                        <a:t>CO4</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c>
                  <a:txBody>
                    <a:bodyPr/>
                    <a:lstStyle/>
                    <a:p>
                      <a:pPr indent="0" marL="0">
                        <a:buNone/>
                      </a:pPr>
                      <a:r>
                        <a:rPr lang="en-US" sz="1200" dirty="0">
                          <a:solidFill>
                            <a:schemeClr val="tx1"/>
                          </a:solidFill>
                        </a:rPr>
                        <a:t>Classes, constructors, inheritance, polymorphism, exceptions</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c>
                  <a:txBody>
                    <a:bodyPr/>
                    <a:lstStyle/>
                    <a:p>
                      <a:pPr indent="0" marL="0">
                        <a:buNone/>
                      </a:pPr>
                      <a:r>
                        <a:rPr lang="en-US" sz="1200" dirty="0">
                          <a:solidFill>
                            <a:schemeClr val="tx1"/>
                          </a:solidFill>
                        </a:rPr>
                        <a:t>Course, LabCourse, 2 exceptions</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r>
              <a:tr h="457200">
                <a:tc>
                  <a:txBody>
                    <a:bodyPr/>
                    <a:lstStyle/>
                    <a:p>
                      <a:pPr indent="0" marL="0">
                        <a:buNone/>
                      </a:pPr>
                      <a:r>
                        <a:rPr lang="en-US" sz="1200" b="1" dirty="0">
                          <a:solidFill>
                            <a:schemeClr val="tx1"/>
                          </a:solidFill>
                        </a:rPr>
                        <a:t>CO5</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c>
                  <a:txBody>
                    <a:bodyPr/>
                    <a:lstStyle/>
                    <a:p>
                      <a:pPr indent="0" marL="0">
                        <a:buNone/>
                      </a:pPr>
                      <a:r>
                        <a:rPr lang="en-US" sz="1200" dirty="0">
                          <a:solidFill>
                            <a:schemeClr val="tx1"/>
                          </a:solidFill>
                        </a:rPr>
                        <a:t>Strings, sorting, searching, file I/O</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c>
                  <a:txBody>
                    <a:bodyPr/>
                    <a:lstStyle/>
                    <a:p>
                      <a:pPr indent="0" marL="0">
                        <a:buNone/>
                      </a:pPr>
                      <a:r>
                        <a:rPr lang="en-US" sz="1200" dirty="0">
                          <a:solidFill>
                            <a:schemeClr val="tx1"/>
                          </a:solidFill>
                        </a:rPr>
                        <a:t>sortCourses(), save(), load()</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r>
              <a:tr h="457200">
                <a:tc>
                  <a:txBody>
                    <a:bodyPr/>
                    <a:lstStyle/>
                    <a:p>
                      <a:pPr indent="0" marL="0">
                        <a:buNone/>
                      </a:pPr>
                      <a:r>
                        <a:rPr lang="en-US" sz="1200" b="1" dirty="0">
                          <a:solidFill>
                            <a:schemeClr val="tx1"/>
                          </a:solidFill>
                        </a:rPr>
                        <a:t>CO6</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c>
                  <a:txBody>
                    <a:bodyPr/>
                    <a:lstStyle/>
                    <a:p>
                      <a:pPr indent="0" marL="0">
                        <a:buNone/>
                      </a:pPr>
                      <a:r>
                        <a:rPr lang="en-US" sz="1200" dirty="0">
                          <a:solidFill>
                            <a:schemeClr val="tx1"/>
                          </a:solidFill>
                        </a:rPr>
                        <a:t>Collections, lambdas, streams, Optional</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c>
                  <a:txBody>
                    <a:bodyPr/>
                    <a:lstStyle/>
                    <a:p>
                      <a:pPr indent="0" marL="0">
                        <a:buNone/>
                      </a:pPr>
                      <a:r>
                        <a:rPr lang="en-US" sz="1200" dirty="0">
                          <a:solidFill>
                            <a:schemeClr val="tx1"/>
                          </a:solidFill>
                        </a:rPr>
                        <a:t>find(), search(), reports()</a:t>
                      </a:r>
                      <a:endParaRPr lang="en-US" sz="1200" dirty="0"/>
                    </a:p>
                  </a:txBody>
                  <a:tcPr marL="91440" marR="91440" marT="36576" marB="36576" anchor="ctr">
                    <a:lnL w="6350" cap="flat" cmpd="sng" algn="ctr">
                      <a:solidFill>
                        <a:srgbClr val="C9CED4"/>
                      </a:solidFill>
                      <a:prstDash val="solid"/>
                      <a:round/>
                      <a:headEnd type="none" w="med" len="med"/>
                      <a:tailEnd type="none" w="med" len="med"/>
                    </a:lnL>
                    <a:lnR w="6350" cap="flat" cmpd="sng" algn="ctr">
                      <a:solidFill>
                        <a:srgbClr val="C9CED4"/>
                      </a:solidFill>
                      <a:prstDash val="solid"/>
                      <a:round/>
                      <a:headEnd type="none" w="med" len="med"/>
                      <a:tailEnd type="none" w="med" len="med"/>
                    </a:lnR>
                    <a:lnT w="6350" cap="flat" cmpd="sng" algn="ctr">
                      <a:solidFill>
                        <a:srgbClr val="C9CED4"/>
                      </a:solidFill>
                      <a:prstDash val="solid"/>
                      <a:round/>
                      <a:headEnd type="none" w="med" len="med"/>
                      <a:tailEnd type="none" w="med" len="med"/>
                    </a:lnT>
                    <a:lnB w="6350" cap="flat" cmpd="sng" algn="ctr">
                      <a:solidFill>
                        <a:srgbClr val="C9CED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Team and thank you</a:t>
            </a:r>
            <a:endParaRPr lang="en-US" sz="3600" dirty="0"/>
          </a:p>
        </p:txBody>
      </p:sp>
      <p:sp>
        <p:nvSpPr>
          <p:cNvPr id="3" name="person-93"/>
          <p:cNvSpPr/>
          <p:nvPr/>
        </p:nvSpPr>
        <p:spPr>
          <a:xfrm>
            <a:off x="457200" y="1280160"/>
            <a:ext cx="4023360" cy="1371600"/>
          </a:xfrm>
          <a:prstGeom prst="roundRect">
            <a:avLst>
              <a:gd name="adj" fmla="val 5333"/>
            </a:avLst>
          </a:prstGeom>
          <a:solidFill>
            <a:schemeClr val="bg1">
              <a:alpha val="10000"/>
            </a:schemeClr>
          </a:solidFill>
          <a:ln w="12700">
            <a:solidFill>
              <a:schemeClr val="accent1"/>
            </a:solidFill>
            <a:prstDash val="solid"/>
          </a:ln>
        </p:spPr>
      </p:sp>
      <p:sp>
        <p:nvSpPr>
          <p:cNvPr id="4" name="Text 2"/>
          <p:cNvSpPr txBox="1"/>
          <p:nvPr/>
        </p:nvSpPr>
        <p:spPr>
          <a:xfrm>
            <a:off x="640080" y="1371600"/>
            <a:ext cx="3657600" cy="411480"/>
          </a:xfrm>
          <a:prstGeom prst="rect">
            <a:avLst/>
          </a:prstGeom>
          <a:noFill/>
          <a:ln/>
        </p:spPr>
        <p:txBody>
          <a:bodyPr wrap="square" lIns="0" tIns="0" rIns="0" bIns="0" rtlCol="0" anchor="ctr"/>
          <a:lstStyle/>
          <a:p>
            <a:pPr indent="0" marL="0">
              <a:buNone/>
            </a:pPr>
            <a:r>
              <a:rPr lang="en-US" sz="2000" b="1" dirty="0">
                <a:solidFill>
                  <a:schemeClr val="bg1"/>
                </a:solidFill>
              </a:rPr>
              <a:t>V. Bhuvan Sai Teja</a:t>
            </a:r>
            <a:endParaRPr lang="en-US" sz="2000" dirty="0"/>
          </a:p>
        </p:txBody>
      </p:sp>
      <p:sp>
        <p:nvSpPr>
          <p:cNvPr id="5" name="Text 3"/>
          <p:cNvSpPr txBox="1"/>
          <p:nvPr/>
        </p:nvSpPr>
        <p:spPr>
          <a:xfrm>
            <a:off x="640080" y="1783080"/>
            <a:ext cx="3657600" cy="320040"/>
          </a:xfrm>
          <a:prstGeom prst="rect">
            <a:avLst/>
          </a:prstGeom>
          <a:noFill/>
          <a:ln/>
        </p:spPr>
        <p:txBody>
          <a:bodyPr wrap="square" lIns="0" tIns="0" rIns="0" bIns="0" rtlCol="0" anchor="ctr"/>
          <a:lstStyle/>
          <a:p>
            <a:pPr indent="0" marL="0">
              <a:buNone/>
            </a:pPr>
            <a:r>
              <a:rPr lang="en-US" sz="1400" dirty="0">
                <a:solidFill>
                  <a:schemeClr val="accent2"/>
                </a:solidFill>
              </a:rPr>
              <a:t>Roll No. 2620030671</a:t>
            </a:r>
            <a:endParaRPr lang="en-US" sz="1400" dirty="0"/>
          </a:p>
        </p:txBody>
      </p:sp>
      <p:sp>
        <p:nvSpPr>
          <p:cNvPr id="6" name="Text 4"/>
          <p:cNvSpPr txBox="1"/>
          <p:nvPr/>
        </p:nvSpPr>
        <p:spPr>
          <a:xfrm>
            <a:off x="640080" y="2148840"/>
            <a:ext cx="3657600" cy="594360"/>
          </a:xfrm>
          <a:prstGeom prst="rect">
            <a:avLst/>
          </a:prstGeom>
          <a:noFill/>
          <a:ln/>
        </p:spPr>
        <p:txBody>
          <a:bodyPr wrap="square" lIns="0" tIns="0" rIns="0" bIns="0" rtlCol="0" anchor="t"/>
          <a:lstStyle/>
          <a:p>
            <a:pPr indent="0" marL="0">
              <a:buNone/>
            </a:pPr>
            <a:r>
              <a:rPr lang="en-US" sz="1400" dirty="0">
                <a:solidFill>
                  <a:schemeClr val="accent5"/>
                </a:solidFill>
              </a:rPr>
              <a:t>Course classes, exceptions, registration</a:t>
            </a:r>
            <a:endParaRPr lang="en-US" sz="1400" dirty="0"/>
          </a:p>
        </p:txBody>
      </p:sp>
      <p:sp>
        <p:nvSpPr>
          <p:cNvPr id="7" name="person-94"/>
          <p:cNvSpPr/>
          <p:nvPr/>
        </p:nvSpPr>
        <p:spPr>
          <a:xfrm>
            <a:off x="4663440" y="1280160"/>
            <a:ext cx="4023360" cy="1371600"/>
          </a:xfrm>
          <a:prstGeom prst="roundRect">
            <a:avLst>
              <a:gd name="adj" fmla="val 5333"/>
            </a:avLst>
          </a:prstGeom>
          <a:solidFill>
            <a:schemeClr val="bg1">
              <a:alpha val="10000"/>
            </a:schemeClr>
          </a:solidFill>
          <a:ln w="12700">
            <a:solidFill>
              <a:schemeClr val="accent1"/>
            </a:solidFill>
            <a:prstDash val="solid"/>
          </a:ln>
        </p:spPr>
      </p:sp>
      <p:sp>
        <p:nvSpPr>
          <p:cNvPr id="8" name="Text 6"/>
          <p:cNvSpPr txBox="1"/>
          <p:nvPr/>
        </p:nvSpPr>
        <p:spPr>
          <a:xfrm>
            <a:off x="4846320" y="1371600"/>
            <a:ext cx="3657600" cy="411480"/>
          </a:xfrm>
          <a:prstGeom prst="rect">
            <a:avLst/>
          </a:prstGeom>
          <a:noFill/>
          <a:ln/>
        </p:spPr>
        <p:txBody>
          <a:bodyPr wrap="square" lIns="0" tIns="0" rIns="0" bIns="0" rtlCol="0" anchor="ctr"/>
          <a:lstStyle/>
          <a:p>
            <a:pPr indent="0" marL="0">
              <a:buNone/>
            </a:pPr>
            <a:r>
              <a:rPr lang="en-US" sz="2000" b="1" dirty="0">
                <a:solidFill>
                  <a:schemeClr val="bg1"/>
                </a:solidFill>
              </a:rPr>
              <a:t>Shloka Bomma</a:t>
            </a:r>
            <a:endParaRPr lang="en-US" sz="2000" dirty="0"/>
          </a:p>
        </p:txBody>
      </p:sp>
      <p:sp>
        <p:nvSpPr>
          <p:cNvPr id="9" name="Text 7"/>
          <p:cNvSpPr txBox="1"/>
          <p:nvPr/>
        </p:nvSpPr>
        <p:spPr>
          <a:xfrm>
            <a:off x="4846320" y="1783080"/>
            <a:ext cx="3657600" cy="320040"/>
          </a:xfrm>
          <a:prstGeom prst="rect">
            <a:avLst/>
          </a:prstGeom>
          <a:noFill/>
          <a:ln/>
        </p:spPr>
        <p:txBody>
          <a:bodyPr wrap="square" lIns="0" tIns="0" rIns="0" bIns="0" rtlCol="0" anchor="ctr"/>
          <a:lstStyle/>
          <a:p>
            <a:pPr indent="0" marL="0">
              <a:buNone/>
            </a:pPr>
            <a:r>
              <a:rPr lang="en-US" sz="1400" dirty="0">
                <a:solidFill>
                  <a:schemeClr val="accent2"/>
                </a:solidFill>
              </a:rPr>
              <a:t>Roll No. 2620030679</a:t>
            </a:r>
            <a:endParaRPr lang="en-US" sz="1400" dirty="0"/>
          </a:p>
        </p:txBody>
      </p:sp>
      <p:sp>
        <p:nvSpPr>
          <p:cNvPr id="10" name="Text 8"/>
          <p:cNvSpPr txBox="1"/>
          <p:nvPr/>
        </p:nvSpPr>
        <p:spPr>
          <a:xfrm>
            <a:off x="4846320" y="2148840"/>
            <a:ext cx="3657600" cy="594360"/>
          </a:xfrm>
          <a:prstGeom prst="rect">
            <a:avLst/>
          </a:prstGeom>
          <a:noFill/>
          <a:ln/>
        </p:spPr>
        <p:txBody>
          <a:bodyPr wrap="square" lIns="0" tIns="0" rIns="0" bIns="0" rtlCol="0" anchor="t"/>
          <a:lstStyle/>
          <a:p>
            <a:pPr indent="0" marL="0">
              <a:buNone/>
            </a:pPr>
            <a:r>
              <a:rPr lang="en-US" sz="1400" dirty="0">
                <a:solidFill>
                  <a:schemeClr val="accent5"/>
                </a:solidFill>
              </a:rPr>
              <a:t>Menu, sorting, search, files, reports, README</a:t>
            </a:r>
            <a:endParaRPr lang="en-US" sz="1400" dirty="0"/>
          </a:p>
        </p:txBody>
      </p:sp>
      <p:sp>
        <p:nvSpPr>
          <p:cNvPr id="11" name="Text 9"/>
          <p:cNvSpPr txBox="1"/>
          <p:nvPr/>
        </p:nvSpPr>
        <p:spPr>
          <a:xfrm>
            <a:off x="457200" y="3017520"/>
            <a:ext cx="8229600" cy="365760"/>
          </a:xfrm>
          <a:prstGeom prst="rect">
            <a:avLst/>
          </a:prstGeom>
          <a:noFill/>
          <a:ln/>
        </p:spPr>
        <p:txBody>
          <a:bodyPr wrap="square" lIns="0" tIns="0" rIns="0" bIns="0" rtlCol="0" anchor="ctr"/>
          <a:lstStyle/>
          <a:p>
            <a:pPr indent="0" marL="0">
              <a:buNone/>
            </a:pPr>
            <a:r>
              <a:rPr lang="en-US" sz="1400" dirty="0">
                <a:solidFill>
                  <a:schemeClr val="accent5"/>
                </a:solidFill>
              </a:rPr>
              <a:t>Section 13   |   Code, README and releases are on GitHub</a:t>
            </a:r>
            <a:endParaRPr lang="en-US" sz="1400" dirty="0"/>
          </a:p>
        </p:txBody>
      </p:sp>
      <p:sp>
        <p:nvSpPr>
          <p:cNvPr id="12" name="Text 10"/>
          <p:cNvSpPr txBox="1"/>
          <p:nvPr/>
        </p:nvSpPr>
        <p:spPr>
          <a:xfrm>
            <a:off x="457200" y="3566160"/>
            <a:ext cx="8229600" cy="822960"/>
          </a:xfrm>
          <a:prstGeom prst="rect">
            <a:avLst/>
          </a:prstGeom>
          <a:noFill/>
          <a:ln/>
        </p:spPr>
        <p:txBody>
          <a:bodyPr wrap="square" lIns="0" tIns="0" rIns="0" bIns="0" rtlCol="0" anchor="ctr"/>
          <a:lstStyle/>
          <a:p>
            <a:pPr indent="0" marL="0">
              <a:buNone/>
            </a:pPr>
            <a:r>
              <a:rPr lang="en-US" sz="4400" b="1" dirty="0">
                <a:solidFill>
                  <a:schemeClr val="accent2"/>
                </a:solidFill>
              </a:rPr>
              <a:t>Questions?</a:t>
            </a:r>
            <a:endParaRPr lang="en-US" sz="4400" dirty="0"/>
          </a:p>
        </p:txBody>
      </p:sp>
    </p:spTree>
  </p:cSld>
  <p:clrMapOvr>
    <a:masterClrMapping/>
  </p:clrMapOvr>
</p:sld>
</file>

<file path=ppt/theme/theme1.xml><?xml version="1.0" encoding="utf-8"?>
<a:theme xmlns:a="http://schemas.openxmlformats.org/drawingml/2006/main" name="KLH Maroon">
  <a:themeElements>
    <a:clrScheme name="KLH Maroon">
      <a:dk1>
        <a:srgbClr val="22181B"/>
      </a:dk1>
      <a:lt1>
        <a:srgbClr val="FFFFFF"/>
      </a:lt1>
      <a:dk2>
        <a:srgbClr val="7A1427"/>
      </a:dk2>
      <a:lt2>
        <a:srgbClr val="F1F2F4"/>
      </a:lt2>
      <a:accent1>
        <a:srgbClr val="8C1D2F"/>
      </a:accent1>
      <a:accent2>
        <a:srgbClr val="E8A33D"/>
      </a:accent2>
      <a:accent3>
        <a:srgbClr val="2F6F73"/>
      </a:accent3>
      <a:accent4>
        <a:srgbClr val="5B6670"/>
      </a:accent4>
      <a:accent5>
        <a:srgbClr val="C9CED4"/>
      </a:accent5>
      <a:accent6>
        <a:srgbClr val="2B0D14"/>
      </a:accent6>
      <a:hlink>
        <a:srgbClr val="8C1D2F"/>
      </a:hlink>
      <a:folHlink>
        <a:srgbClr val="5B6670"/>
      </a:folHlink>
    </a:clrScheme>
    <a:fontScheme name="KLH Maro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Registration and Timetable Builder</dc:title>
  <dc:subject>PptxGenJS Presentation</dc:subject>
  <dc:creator>V. Bhuvan Sai Teja, Shloka Bomma</dc:creator>
  <cp:lastModifiedBy>V. Bhuvan Sai Teja, Shloka Bomma</cp:lastModifiedBy>
  <cp:revision>1</cp:revision>
  <dcterms:created xsi:type="dcterms:W3CDTF">2026-10-15T08:19:26Z</dcterms:created>
  <dcterms:modified xsi:type="dcterms:W3CDTF">2026-10-15T08:19:26Z</dcterms:modified>
</cp:coreProperties>
</file>